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3" r:id="rId16"/>
    <p:sldId id="270" r:id="rId17"/>
    <p:sldId id="271" r:id="rId18"/>
    <p:sldId id="272" r:id="rId19"/>
    <p:sldId id="273" r:id="rId20"/>
    <p:sldId id="274" r:id="rId21"/>
    <p:sldId id="276" r:id="rId22"/>
    <p:sldId id="277" r:id="rId23"/>
    <p:sldId id="279" r:id="rId24"/>
    <p:sldId id="280" r:id="rId25"/>
    <p:sldId id="281" r:id="rId26"/>
    <p:sldId id="282" r:id="rId27"/>
  </p:sldIdLst>
  <p:sldSz cx="9144000" cy="6858000" type="screen4x3"/>
  <p:notesSz cx="6858000" cy="9144000"/>
  <p:embeddedFontLst>
    <p:embeddedFont>
      <p:font typeface="Calibri" panose="020F0502020204030204" pitchFamily="34" charset="0"/>
      <p:regular r:id="rId29"/>
      <p:bold r:id="rId30"/>
      <p:italic r:id="rId31"/>
      <p:boldItalic r:id="rId32"/>
    </p:embeddedFont>
    <p:embeddedFont>
      <p:font typeface="Open Sans ExtraBold" panose="020B0906030804020204" pitchFamily="34" charset="0"/>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1594" y="1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17f681a001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17f681a001_0_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317f681a001_0_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17f681a001_0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17f681a001_0_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317f681a001_0_1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17f681a001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17f681a001_0_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g317f681a001_0_2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17fd916e03_1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17fd916e03_1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g317fd916e03_1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17fd916e03_1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17fd916e03_1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317fd916e03_1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17fd916e03_1_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17fd916e03_1_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g317fd916e03_1_2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panose="020F0502020204030204"/>
              <a:buNone/>
              <a:defRPr>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panose="020F0502020204030204"/>
                <a:ea typeface="Calibri" panose="020F0502020204030204"/>
                <a:cs typeface="Calibri" panose="020F0502020204030204"/>
                <a:sym typeface="Calibri" panose="020F0502020204030204"/>
              </a:defRPr>
            </a:lvl1pPr>
            <a:lvl2pPr marL="914400" lvl="1" indent="-355600" algn="l">
              <a:lnSpc>
                <a:spcPct val="114000"/>
              </a:lnSpc>
              <a:spcBef>
                <a:spcPts val="400"/>
              </a:spcBef>
              <a:spcAft>
                <a:spcPts val="0"/>
              </a:spcAft>
              <a:buClr>
                <a:schemeClr val="dk1"/>
              </a:buClr>
              <a:buSzPts val="2000"/>
              <a:buFont typeface="Arial" panose="020B0604020202020204"/>
              <a:buChar char="•"/>
              <a:defRPr sz="2000">
                <a:latin typeface="Calibri" panose="020F0502020204030204"/>
                <a:ea typeface="Calibri" panose="020F0502020204030204"/>
                <a:cs typeface="Calibri" panose="020F0502020204030204"/>
                <a:sym typeface="Calibri" panose="020F0502020204030204"/>
              </a:defRPr>
            </a:lvl2pPr>
            <a:lvl3pPr marL="1371600" lvl="2" indent="-342900" algn="l">
              <a:lnSpc>
                <a:spcPct val="114000"/>
              </a:lnSpc>
              <a:spcBef>
                <a:spcPts val="360"/>
              </a:spcBef>
              <a:spcAft>
                <a:spcPts val="0"/>
              </a:spcAft>
              <a:buClr>
                <a:schemeClr val="dk1"/>
              </a:buClr>
              <a:buSzPts val="1800"/>
              <a:buChar char="•"/>
              <a:defRPr sz="1800">
                <a:latin typeface="Calibri" panose="020F0502020204030204"/>
                <a:ea typeface="Calibri" panose="020F0502020204030204"/>
                <a:cs typeface="Calibri" panose="020F0502020204030204"/>
                <a:sym typeface="Calibri" panose="020F0502020204030204"/>
              </a:defRPr>
            </a:lvl3pPr>
            <a:lvl4pPr marL="1828800" lvl="3" indent="-330200" algn="l">
              <a:lnSpc>
                <a:spcPct val="114000"/>
              </a:lnSpc>
              <a:spcBef>
                <a:spcPts val="320"/>
              </a:spcBef>
              <a:spcAft>
                <a:spcPts val="0"/>
              </a:spcAft>
              <a:buClr>
                <a:schemeClr val="dk1"/>
              </a:buClr>
              <a:buSzPts val="1600"/>
              <a:buChar char="–"/>
              <a:defRPr sz="1600">
                <a:latin typeface="Calibri" panose="020F0502020204030204"/>
                <a:ea typeface="Calibri" panose="020F0502020204030204"/>
                <a:cs typeface="Calibri" panose="020F0502020204030204"/>
                <a:sym typeface="Calibri" panose="020F0502020204030204"/>
              </a:defRPr>
            </a:lvl4pPr>
            <a:lvl5pPr marL="2286000" lvl="4" indent="-330200" algn="l">
              <a:lnSpc>
                <a:spcPct val="114000"/>
              </a:lnSpc>
              <a:spcBef>
                <a:spcPts val="320"/>
              </a:spcBef>
              <a:spcAft>
                <a:spcPts val="0"/>
              </a:spcAft>
              <a:buClr>
                <a:schemeClr val="dk1"/>
              </a:buClr>
              <a:buSzPts val="1600"/>
              <a:buChar char="»"/>
              <a:defRPr sz="1600">
                <a:latin typeface="Calibri" panose="020F0502020204030204"/>
                <a:ea typeface="Calibri" panose="020F0502020204030204"/>
                <a:cs typeface="Calibri" panose="020F0502020204030204"/>
                <a:sym typeface="Calibri" panose="020F0502020204030204"/>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panose="020F0502020204030204"/>
                <a:ea typeface="Calibri" panose="020F0502020204030204"/>
                <a:cs typeface="Calibri" panose="020F0502020204030204"/>
                <a:sym typeface="Calibri" panose="020F0502020204030204"/>
              </a:rPr>
              <a:t>Department of Computer Science and Engineering</a:t>
            </a:r>
            <a:endParaRPr sz="1600">
              <a:solidFill>
                <a:srgbClr val="FFFFFF"/>
              </a:solidFill>
              <a:latin typeface="Calibri" panose="020F0502020204030204"/>
              <a:ea typeface="Calibri" panose="020F0502020204030204"/>
              <a:cs typeface="Calibri" panose="020F0502020204030204"/>
              <a:sym typeface="Calibri" panose="020F0502020204030204"/>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panose="020F0502020204030204"/>
                <a:ea typeface="Calibri" panose="020F0502020204030204"/>
                <a:cs typeface="Calibri" panose="020F0502020204030204"/>
                <a:sym typeface="Calibri" panose="020F0502020204030204"/>
              </a:rPr>
              <a:t>Rajalakshmi Engineering College 		</a:t>
            </a:r>
            <a:fld id="{00000000-1234-1234-1234-123412341234}" type="slidenum">
              <a:rPr lang="en-US" sz="1600">
                <a:solidFill>
                  <a:srgbClr val="FFFFFF"/>
                </a:solidFill>
                <a:latin typeface="Calibri" panose="020F0502020204030204"/>
                <a:ea typeface="Calibri" panose="020F0502020204030204"/>
                <a:cs typeface="Calibri" panose="020F0502020204030204"/>
                <a:sym typeface="Calibri" panose="020F0502020204030204"/>
              </a:rPr>
              <a:t>‹#›</a:t>
            </a:fld>
            <a:endParaRPr sz="1600">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panose="020B0906030804020204"/>
              <a:buNone/>
              <a:defRPr>
                <a:latin typeface="Open Sans ExtraBold" panose="020B0906030804020204"/>
                <a:ea typeface="Open Sans ExtraBold" panose="020B0906030804020204"/>
                <a:cs typeface="Open Sans ExtraBold" panose="020B0906030804020204"/>
                <a:sym typeface="Open Sans ExtraBold" panose="020B0906030804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234/jdi.2021.01345"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doi.org/10.1007/jwa.2023.1003"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srcRect l="-776" t="63278" r="776" b="-30897"/>
          <a:stretch>
            <a:fillRect/>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764493"/>
            <a:chOff x="-14748" y="986564"/>
            <a:chExt cx="9158748" cy="5764493"/>
          </a:xfrm>
        </p:grpSpPr>
        <p:sp>
          <p:nvSpPr>
            <p:cNvPr id="90" name="Google Shape;90;p13"/>
            <p:cNvSpPr txBox="1"/>
            <p:nvPr/>
          </p:nvSpPr>
          <p:spPr>
            <a:xfrm>
              <a:off x="177781" y="4812105"/>
              <a:ext cx="4322100"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Your Register No.</a:t>
              </a:r>
              <a:r>
                <a:rPr lang="en-US" sz="2000" b="1" dirty="0">
                  <a:solidFill>
                    <a:schemeClr val="dk1"/>
                  </a:solidFill>
                  <a:latin typeface="Calibri" panose="020F0502020204030204"/>
                  <a:ea typeface="Calibri" panose="020F0502020204030204"/>
                  <a:cs typeface="Calibri" panose="020F0502020204030204"/>
                  <a:sym typeface="Calibri" panose="020F0502020204030204"/>
                </a:rPr>
                <a:t>:220701017</a:t>
              </a:r>
            </a:p>
            <a:p>
              <a:pPr marL="0" marR="0" lvl="0" indent="0" algn="l" rtl="0">
                <a:spcBef>
                  <a:spcPts val="0"/>
                </a:spcBef>
                <a:spcAft>
                  <a:spcPts val="0"/>
                </a:spcAft>
                <a:buNone/>
              </a:pPr>
              <a:r>
                <a:rPr lang="en-US" sz="2000" b="1" dirty="0">
                  <a:solidFill>
                    <a:schemeClr val="dk1"/>
                  </a:solidFill>
                  <a:latin typeface="Calibri" panose="020F0502020204030204"/>
                  <a:ea typeface="Calibri" panose="020F0502020204030204"/>
                  <a:cs typeface="Calibri" panose="020F0502020204030204"/>
                  <a:sym typeface="Calibri" panose="020F0502020204030204"/>
                </a:rPr>
                <a:t>Name: C AISHWARYA</a:t>
              </a:r>
            </a:p>
            <a:p>
              <a:pPr marL="0" marR="0" lvl="0" indent="0" algn="l" rtl="0">
                <a:spcBef>
                  <a:spcPts val="0"/>
                </a:spcBef>
                <a:spcAft>
                  <a:spcPts val="0"/>
                </a:spcAft>
                <a:buNone/>
              </a:pPr>
              <a:r>
                <a:rPr lang="en-US" sz="2000" b="1" dirty="0">
                  <a:solidFill>
                    <a:schemeClr val="dk1"/>
                  </a:solidFill>
                  <a:latin typeface="Calibri" panose="020F0502020204030204"/>
                  <a:ea typeface="Calibri" panose="020F0502020204030204"/>
                  <a:cs typeface="Calibri" panose="020F0502020204030204"/>
                  <a:sym typeface="Calibri" panose="020F0502020204030204"/>
                </a:rPr>
                <a:t>Guide </a:t>
              </a:r>
              <a:r>
                <a:rPr lang="en-US" sz="2000" b="1" dirty="0" err="1">
                  <a:solidFill>
                    <a:schemeClr val="dk1"/>
                  </a:solidFill>
                  <a:latin typeface="Calibri" panose="020F0502020204030204"/>
                  <a:ea typeface="Calibri" panose="020F0502020204030204"/>
                  <a:cs typeface="Calibri" panose="020F0502020204030204"/>
                  <a:sym typeface="Calibri" panose="020F0502020204030204"/>
                </a:rPr>
                <a:t>Name:Mrs.J.Jinu</a:t>
              </a:r>
              <a:r>
                <a:rPr lang="en-US" sz="2000" b="1" dirty="0">
                  <a:solidFill>
                    <a:schemeClr val="dk1"/>
                  </a:solidFill>
                  <a:latin typeface="Calibri" panose="020F0502020204030204"/>
                  <a:ea typeface="Calibri" panose="020F0502020204030204"/>
                  <a:cs typeface="Calibri" panose="020F0502020204030204"/>
                  <a:sym typeface="Calibri" panose="020F0502020204030204"/>
                </a:rPr>
                <a:t> Sophia</a:t>
              </a:r>
            </a:p>
            <a:p>
              <a:pPr marL="0" marR="0" lvl="0" indent="0" algn="l" rtl="0">
                <a:spcBef>
                  <a:spcPts val="0"/>
                </a:spcBef>
                <a:spcAft>
                  <a:spcPts val="0"/>
                </a:spcAft>
                <a:buNone/>
              </a:pPr>
              <a:r>
                <a:rPr lang="en-US" sz="2000" b="1" dirty="0" err="1">
                  <a:solidFill>
                    <a:schemeClr val="dk1"/>
                  </a:solidFill>
                  <a:latin typeface="Calibri" panose="020F0502020204030204"/>
                  <a:ea typeface="Calibri" panose="020F0502020204030204"/>
                  <a:cs typeface="Calibri" panose="020F0502020204030204"/>
                  <a:sym typeface="Calibri" panose="020F0502020204030204"/>
                </a:rPr>
                <a:t>Designation:Assistant</a:t>
              </a:r>
              <a:r>
                <a:rPr lang="en-US" sz="2000" b="1" dirty="0">
                  <a:solidFill>
                    <a:schemeClr val="dk1"/>
                  </a:solidFill>
                  <a:latin typeface="Calibri" panose="020F0502020204030204"/>
                  <a:ea typeface="Calibri" panose="020F0502020204030204"/>
                  <a:cs typeface="Calibri" panose="020F0502020204030204"/>
                  <a:sym typeface="Calibri" panose="020F0502020204030204"/>
                </a:rPr>
                <a:t> Professor(SG)</a:t>
              </a:r>
            </a:p>
            <a:p>
              <a:pPr marL="0" marR="0" lvl="0" indent="0" algn="l" rtl="0">
                <a:spcBef>
                  <a:spcPts val="0"/>
                </a:spcBef>
                <a:spcAft>
                  <a:spcPts val="0"/>
                </a:spcAft>
                <a:buNone/>
              </a:pPr>
              <a:r>
                <a:rPr lang="en-US" sz="2000" b="1" dirty="0" err="1">
                  <a:solidFill>
                    <a:schemeClr val="dk1"/>
                  </a:solidFill>
                  <a:latin typeface="Calibri" panose="020F0502020204030204"/>
                  <a:ea typeface="Calibri" panose="020F0502020204030204"/>
                  <a:cs typeface="Calibri" panose="020F0502020204030204"/>
                  <a:sym typeface="Calibri" panose="020F0502020204030204"/>
                </a:rPr>
                <a:t>Department:Computer</a:t>
              </a:r>
              <a:r>
                <a:rPr lang="en-US" sz="2000" b="1" dirty="0">
                  <a:solidFill>
                    <a:schemeClr val="dk1"/>
                  </a:solidFill>
                  <a:latin typeface="Calibri" panose="020F0502020204030204"/>
                  <a:ea typeface="Calibri" panose="020F0502020204030204"/>
                  <a:cs typeface="Calibri" panose="020F0502020204030204"/>
                  <a:sym typeface="Calibri" panose="020F0502020204030204"/>
                </a:rPr>
                <a:t> Science &amp; Engineering</a:t>
              </a:r>
              <a:endParaRPr sz="2000" b="1" dirty="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91" name="Google Shape;91;p13"/>
            <p:cNvGrpSpPr/>
            <p:nvPr/>
          </p:nvGrpSpPr>
          <p:grpSpPr>
            <a:xfrm>
              <a:off x="-14748" y="986564"/>
              <a:ext cx="9158748" cy="3699622"/>
              <a:chOff x="-14748" y="986564"/>
              <a:chExt cx="9158748" cy="3699622"/>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6" name="Google Shape;96;p13"/>
                <p:cNvSpPr txBox="1"/>
                <p:nvPr/>
              </p:nvSpPr>
              <p:spPr>
                <a:xfrm>
                  <a:off x="237041" y="1195624"/>
                  <a:ext cx="4181886"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a:solidFill>
                        <a:schemeClr val="lt1"/>
                      </a:solidFill>
                      <a:latin typeface="Calibri" panose="020F0502020204030204"/>
                      <a:ea typeface="Calibri" panose="020F0502020204030204"/>
                      <a:cs typeface="Calibri" panose="020F0502020204030204"/>
                      <a:sym typeface="Calibri" panose="020F0502020204030204"/>
                    </a:rPr>
                    <a:t>Introduction to </a:t>
                  </a:r>
                </a:p>
                <a:p>
                  <a:pPr marL="0" marR="0" lvl="0" indent="0" algn="ctr" rtl="0">
                    <a:spcBef>
                      <a:spcPts val="0"/>
                    </a:spcBef>
                    <a:spcAft>
                      <a:spcPts val="0"/>
                    </a:spcAft>
                    <a:buNone/>
                  </a:pPr>
                  <a:r>
                    <a:rPr lang="en-US" sz="2000" b="1">
                      <a:solidFill>
                        <a:schemeClr val="lt1"/>
                      </a:solidFill>
                      <a:latin typeface="Calibri" panose="020F0502020204030204"/>
                      <a:ea typeface="Calibri" panose="020F0502020204030204"/>
                      <a:cs typeface="Calibri" panose="020F0502020204030204"/>
                      <a:sym typeface="Calibri" panose="020F0502020204030204"/>
                    </a:rPr>
                    <a:t>Robotic Process Automation </a:t>
                  </a:r>
                  <a:endParaRPr sz="2000" b="1">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97" name="Google Shape;97;p13"/>
              <p:cNvSpPr txBox="1"/>
              <p:nvPr/>
            </p:nvSpPr>
            <p:spPr>
              <a:xfrm>
                <a:off x="177782" y="2100903"/>
                <a:ext cx="4188156" cy="2585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lt1"/>
                    </a:solidFill>
                    <a:latin typeface="Calibri" panose="020F0502020204030204"/>
                    <a:ea typeface="Calibri" panose="020F0502020204030204"/>
                    <a:cs typeface="Calibri" panose="020F0502020204030204"/>
                    <a:sym typeface="Calibri" panose="020F0502020204030204"/>
                  </a:rPr>
                  <a:t>Daily Horoscope Tracker</a:t>
                </a:r>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grpSp>
      </p:grpSp>
      <p:pic>
        <p:nvPicPr>
          <p:cNvPr id="99" name="Google Shape;99;p13"/>
          <p:cNvPicPr preferRelativeResize="0"/>
          <p:nvPr/>
        </p:nvPicPr>
        <p:blipFill rotWithShape="1">
          <a:blip r:embed="rId4"/>
          <a:srcRect/>
          <a:stretch>
            <a:fillRect/>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Abstract</a:t>
            </a:r>
            <a:endParaRPr>
              <a:latin typeface="Calibri" panose="020F0502020204030204"/>
              <a:ea typeface="Calibri" panose="020F0502020204030204"/>
              <a:cs typeface="Calibri" panose="020F0502020204030204"/>
              <a:sym typeface="Calibri" panose="020F0502020204030204"/>
            </a:endParaRPr>
          </a:p>
        </p:txBody>
      </p:sp>
      <p:sp>
        <p:nvSpPr>
          <p:cNvPr id="106" name="Google Shape;106;p1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419100" algn="just" rtl="0">
              <a:lnSpc>
                <a:spcPct val="114000"/>
              </a:lnSpc>
              <a:spcBef>
                <a:spcPts val="0"/>
              </a:spcBef>
              <a:spcAft>
                <a:spcPts val="0"/>
              </a:spcAft>
              <a:buClr>
                <a:schemeClr val="dk1"/>
              </a:buClr>
              <a:buSzPts val="3600"/>
              <a:buFont typeface="Noto Sans Symbols"/>
              <a:buChar char="▪"/>
            </a:pPr>
            <a:r>
              <a:rPr lang="en-US" sz="2300">
                <a:latin typeface="Times New Roman" panose="02020603050405020304"/>
                <a:ea typeface="Times New Roman" panose="02020603050405020304"/>
                <a:cs typeface="Times New Roman" panose="02020603050405020304"/>
                <a:sym typeface="Times New Roman" panose="02020603050405020304"/>
              </a:rPr>
              <a:t>The Daily Horoscope  Tracker is a smart and automated system designed to provide users with personalized daily horoscopes and wellness tips. Using advanced web scraping techniques, the system gathers horoscopes from multiple trusted sources and consolidates them into a concise, user-friendly daily report. In addition to delivering insightful astrological forecasts, the tracker offers wellness advice tailored to the user’s zodiac sign. Historical data is logged to identify trends and patterns, enabling a deeper understanding of astrological influences over time. With features like daily notifications, trend analysis, and customized user inputs, the system enhances user engagement and promotes a mindful lifestyle.</a:t>
            </a:r>
            <a:endParaRPr sz="36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Need for the Proposed System</a:t>
            </a:r>
            <a:endParaRPr>
              <a:latin typeface="Calibri" panose="020F0502020204030204"/>
              <a:ea typeface="Calibri" panose="020F0502020204030204"/>
              <a:cs typeface="Calibri" panose="020F0502020204030204"/>
              <a:sym typeface="Calibri" panose="020F0502020204030204"/>
            </a:endParaRPr>
          </a:p>
        </p:txBody>
      </p:sp>
      <p:sp>
        <p:nvSpPr>
          <p:cNvPr id="113" name="Google Shape;113;p1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Autofit/>
          </a:bodyPr>
          <a:lstStyle/>
          <a:p>
            <a:pPr marL="342900" lvl="0" indent="-419100" algn="just" rtl="0">
              <a:lnSpc>
                <a:spcPct val="114000"/>
              </a:lnSpc>
              <a:spcBef>
                <a:spcPts val="0"/>
              </a:spcBef>
              <a:spcAft>
                <a:spcPts val="0"/>
              </a:spcAft>
              <a:buClr>
                <a:schemeClr val="dk1"/>
              </a:buClr>
              <a:buSzPts val="3600"/>
              <a:buFont typeface="Noto Sans Symbols"/>
              <a:buChar char="▪"/>
            </a:pPr>
            <a:r>
              <a:rPr lang="en-US" sz="2300">
                <a:latin typeface="Times New Roman" panose="02020603050405020304"/>
                <a:ea typeface="Times New Roman" panose="02020603050405020304"/>
                <a:cs typeface="Times New Roman" panose="02020603050405020304"/>
                <a:sym typeface="Times New Roman" panose="02020603050405020304"/>
              </a:rPr>
              <a:t>The need for the proposed Daily Horoscope Tracker arises from the growing interest in personalized lifestyle guidance and the convenience of automated solutions. Many users seek daily astrological insights and wellness tips but face challenges in accessing reliable and consolidated information from various sources. Manually gathering and analyzing such data is time-consuming and inconsistent. This system addresses these gaps by automating the process of fetching, organizing, and delivering accurate horoscope predictions and wellness suggestions, ensuring users receive timely updates tailored to their zodiac signs. By leveraging technology, the system simplifies the experience, enhances accessibility, and empowers users to make informed decisions for their daily well-being.</a:t>
            </a:r>
            <a:endParaRPr sz="36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Advantages of the Proposed System</a:t>
            </a:r>
            <a:endParaRPr>
              <a:latin typeface="Calibri" panose="020F0502020204030204"/>
              <a:ea typeface="Calibri" panose="020F0502020204030204"/>
              <a:cs typeface="Calibri" panose="020F0502020204030204"/>
              <a:sym typeface="Calibri" panose="020F0502020204030204"/>
            </a:endParaRPr>
          </a:p>
        </p:txBody>
      </p:sp>
      <p:sp>
        <p:nvSpPr>
          <p:cNvPr id="120" name="Google Shape;120;p1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0" algn="just" rtl="0">
              <a:spcBef>
                <a:spcPts val="0"/>
              </a:spcBef>
              <a:spcAft>
                <a:spcPts val="0"/>
              </a:spcAft>
              <a:buNone/>
            </a:pPr>
            <a:r>
              <a:rPr lang="en-US" sz="2300" b="1">
                <a:latin typeface="Times New Roman" panose="02020603050405020304"/>
                <a:ea typeface="Times New Roman" panose="02020603050405020304"/>
                <a:cs typeface="Times New Roman" panose="02020603050405020304"/>
                <a:sym typeface="Times New Roman" panose="02020603050405020304"/>
              </a:rPr>
              <a:t>1.Automation and Convenience</a:t>
            </a:r>
            <a:r>
              <a:rPr lang="en-US" sz="2300">
                <a:latin typeface="Times New Roman" panose="02020603050405020304"/>
                <a:ea typeface="Times New Roman" panose="02020603050405020304"/>
                <a:cs typeface="Times New Roman" panose="02020603050405020304"/>
                <a:sym typeface="Times New Roman" panose="02020603050405020304"/>
              </a:rPr>
              <a:t>: The system automatically gathers horoscope data and wellness tips from multiple sources, saving users time and effort while ensuring consistency in daily updates.</a:t>
            </a:r>
            <a:endParaRPr sz="2300">
              <a:latin typeface="Times New Roman" panose="02020603050405020304"/>
              <a:ea typeface="Times New Roman" panose="02020603050405020304"/>
              <a:cs typeface="Times New Roman" panose="02020603050405020304"/>
              <a:sym typeface="Times New Roman" panose="02020603050405020304"/>
            </a:endParaRPr>
          </a:p>
          <a:p>
            <a:pPr marL="342900" lvl="0" indent="0" algn="just" rtl="0">
              <a:spcBef>
                <a:spcPts val="0"/>
              </a:spcBef>
              <a:spcAft>
                <a:spcPts val="0"/>
              </a:spcAft>
              <a:buClr>
                <a:schemeClr val="dk1"/>
              </a:buClr>
              <a:buSzPts val="1100"/>
              <a:buFont typeface="Arial" panose="020B0604020202020204"/>
              <a:buNone/>
            </a:pPr>
            <a:endParaRPr sz="2300">
              <a:latin typeface="Times New Roman" panose="02020603050405020304"/>
              <a:ea typeface="Times New Roman" panose="02020603050405020304"/>
              <a:cs typeface="Times New Roman" panose="02020603050405020304"/>
              <a:sym typeface="Times New Roman" panose="02020603050405020304"/>
            </a:endParaRPr>
          </a:p>
          <a:p>
            <a:pPr marL="342900" lvl="0" indent="0" algn="just" rtl="0">
              <a:spcBef>
                <a:spcPts val="0"/>
              </a:spcBef>
              <a:spcAft>
                <a:spcPts val="0"/>
              </a:spcAft>
              <a:buNone/>
            </a:pPr>
            <a:r>
              <a:rPr lang="en-US" sz="2300" b="1">
                <a:latin typeface="Times New Roman" panose="02020603050405020304"/>
                <a:ea typeface="Times New Roman" panose="02020603050405020304"/>
                <a:cs typeface="Times New Roman" panose="02020603050405020304"/>
                <a:sym typeface="Times New Roman" panose="02020603050405020304"/>
              </a:rPr>
              <a:t>2.Personalization and Trend Analysis</a:t>
            </a:r>
            <a:r>
              <a:rPr lang="en-US" sz="2300">
                <a:latin typeface="Times New Roman" panose="02020603050405020304"/>
                <a:ea typeface="Times New Roman" panose="02020603050405020304"/>
                <a:cs typeface="Times New Roman" panose="02020603050405020304"/>
                <a:sym typeface="Times New Roman" panose="02020603050405020304"/>
              </a:rPr>
              <a:t>: By tailoring reports to individual zodiac signs and logging historical data, the system provides personalized insights and allows users to analyze patterns for a deeper understanding of astrological influences.</a:t>
            </a:r>
            <a:endParaRPr sz="2300">
              <a:latin typeface="Times New Roman" panose="02020603050405020304"/>
              <a:ea typeface="Times New Roman" panose="02020603050405020304"/>
              <a:cs typeface="Times New Roman" panose="02020603050405020304"/>
              <a:sym typeface="Times New Roman" panose="02020603050405020304"/>
            </a:endParaRPr>
          </a:p>
          <a:p>
            <a:pPr marL="342900" lvl="0" indent="0" algn="just" rtl="0">
              <a:spcBef>
                <a:spcPts val="0"/>
              </a:spcBef>
              <a:spcAft>
                <a:spcPts val="0"/>
              </a:spcAft>
              <a:buClr>
                <a:schemeClr val="dk1"/>
              </a:buClr>
              <a:buSzPts val="1100"/>
              <a:buFont typeface="Arial" panose="020B0604020202020204"/>
              <a:buNone/>
            </a:pPr>
            <a:endParaRPr sz="2300">
              <a:latin typeface="Times New Roman" panose="02020603050405020304"/>
              <a:ea typeface="Times New Roman" panose="02020603050405020304"/>
              <a:cs typeface="Times New Roman" panose="02020603050405020304"/>
              <a:sym typeface="Times New Roman" panose="02020603050405020304"/>
            </a:endParaRPr>
          </a:p>
          <a:p>
            <a:pPr marL="342900" lvl="0" indent="0" algn="just" rtl="0">
              <a:spcBef>
                <a:spcPts val="0"/>
              </a:spcBef>
              <a:spcAft>
                <a:spcPts val="0"/>
              </a:spcAft>
              <a:buClr>
                <a:schemeClr val="dk1"/>
              </a:buClr>
              <a:buSzPts val="1100"/>
              <a:buFont typeface="Arial" panose="020B0604020202020204"/>
              <a:buNone/>
            </a:pPr>
            <a:r>
              <a:rPr lang="en-US" sz="2300" b="1">
                <a:latin typeface="Times New Roman" panose="02020603050405020304"/>
                <a:ea typeface="Times New Roman" panose="02020603050405020304"/>
                <a:cs typeface="Times New Roman" panose="02020603050405020304"/>
                <a:sym typeface="Times New Roman" panose="02020603050405020304"/>
              </a:rPr>
              <a:t>3.Enhanced User Engagement</a:t>
            </a:r>
            <a:r>
              <a:rPr lang="en-US" sz="2300">
                <a:latin typeface="Times New Roman" panose="02020603050405020304"/>
                <a:ea typeface="Times New Roman" panose="02020603050405020304"/>
                <a:cs typeface="Times New Roman" panose="02020603050405020304"/>
                <a:sym typeface="Times New Roman" panose="02020603050405020304"/>
              </a:rPr>
              <a:t>: With features like daily notifications and wellness advice, the system keeps users actively involved, promoting a balanced and mindful lifestyle</a:t>
            </a:r>
            <a:r>
              <a:rPr lang="en-US" sz="1100">
                <a:latin typeface="Arial" panose="020B0604020202020204"/>
                <a:ea typeface="Arial" panose="020B0604020202020204"/>
                <a:cs typeface="Arial" panose="020B0604020202020204"/>
                <a:sym typeface="Arial" panose="020B0604020202020204"/>
              </a:rPr>
              <a:t>.</a:t>
            </a:r>
            <a:endParaRPr sz="1100">
              <a:latin typeface="Arial" panose="020B0604020202020204"/>
              <a:ea typeface="Arial" panose="020B0604020202020204"/>
              <a:cs typeface="Arial" panose="020B0604020202020204"/>
              <a:sym typeface="Arial" panose="020B0604020202020204"/>
            </a:endParaRPr>
          </a:p>
          <a:p>
            <a:pPr marL="342900" lvl="0" indent="0" algn="l" rtl="0">
              <a:lnSpc>
                <a:spcPct val="114000"/>
              </a:lnSpc>
              <a:spcBef>
                <a:spcPts val="0"/>
              </a:spcBef>
              <a:spcAft>
                <a:spcPts val="0"/>
              </a:spcAft>
              <a:buNone/>
            </a:pPr>
            <a:endParaRPr sz="11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Literature Survey</a:t>
            </a:r>
            <a:endParaRPr>
              <a:latin typeface="Calibri" panose="020F0502020204030204"/>
              <a:ea typeface="Calibri" panose="020F0502020204030204"/>
              <a:cs typeface="Calibri" panose="020F0502020204030204"/>
              <a:sym typeface="Calibri" panose="020F0502020204030204"/>
            </a:endParaRPr>
          </a:p>
        </p:txBody>
      </p:sp>
      <p:sp>
        <p:nvSpPr>
          <p:cNvPr id="127" name="Google Shape;127;p1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400"/>
              <a:buFont typeface="Noto Sans Symbols"/>
              <a:buChar char="▪"/>
            </a:pPr>
            <a:r>
              <a:rPr lang="en-US" b="1" dirty="0">
                <a:latin typeface="Times New Roman" panose="02020603050405020304" pitchFamily="18" charset="0"/>
                <a:cs typeface="Times New Roman" panose="02020603050405020304" pitchFamily="18" charset="0"/>
              </a:rPr>
              <a:t>Astrological Prediction Using Data Models</a:t>
            </a:r>
            <a:r>
              <a:rPr lang="en-US" dirty="0">
                <a:latin typeface="Times New Roman" panose="02020603050405020304" pitchFamily="18" charset="0"/>
                <a:cs typeface="Times New Roman" panose="02020603050405020304" pitchFamily="18" charset="0"/>
              </a:rPr>
              <a:t>: A study proposed a data model analyzing astrological charts using attributes like planetary positions across 12 houses. It introduced machine learning techniques, such as Biased Logistic Regression, for improving horoscope-based predictions. This approach aligns with automated horoscope systems by leveraging computational methods for accuracy and classification</a:t>
            </a:r>
          </a:p>
          <a:p>
            <a:pPr marL="495300" indent="-342900"/>
            <a:r>
              <a:rPr lang="en-US" b="1" dirty="0">
                <a:latin typeface="Times New Roman" panose="02020603050405020304" pitchFamily="18" charset="0"/>
                <a:cs typeface="Times New Roman" panose="02020603050405020304" pitchFamily="18" charset="0"/>
              </a:rPr>
              <a:t>Advantage:</a:t>
            </a:r>
          </a:p>
          <a:p>
            <a:pPr marL="342900" lvl="0" indent="-190500" algn="just" rtl="0">
              <a:lnSpc>
                <a:spcPct val="114000"/>
              </a:lnSpc>
              <a:spcBef>
                <a:spcPts val="480"/>
              </a:spcBef>
              <a:spcAft>
                <a:spcPts val="0"/>
              </a:spcAft>
              <a:buClr>
                <a:schemeClr val="dk1"/>
              </a:buClr>
              <a:buSzPts val="2400"/>
              <a:buFont typeface="Noto Sans Symbols"/>
              <a:buNone/>
            </a:pPr>
            <a:r>
              <a:rPr lang="en-US" sz="2000" dirty="0">
                <a:latin typeface="Times New Roman" panose="02020603050405020304" pitchFamily="18" charset="0"/>
                <a:cs typeface="Times New Roman" panose="02020603050405020304" pitchFamily="18" charset="0"/>
              </a:rPr>
              <a:t>   The Biased Logistic Regression model enhances the accuracy of astrological  predictions by using structured data and machine learning techniques.</a:t>
            </a:r>
          </a:p>
          <a:p>
            <a:pPr marL="495300" indent="-342900" algn="just"/>
            <a:r>
              <a:rPr lang="en-US" b="1" dirty="0">
                <a:latin typeface="Times New Roman" panose="02020603050405020304" pitchFamily="18" charset="0"/>
                <a:cs typeface="Times New Roman" panose="02020603050405020304" pitchFamily="18" charset="0"/>
              </a:rPr>
              <a:t>Disadvantage:</a:t>
            </a:r>
          </a:p>
          <a:p>
            <a:pPr marL="152400" indent="0" algn="just">
              <a:buNone/>
            </a:pPr>
            <a:r>
              <a:rPr lang="en-US" sz="2000" dirty="0">
                <a:latin typeface="Times New Roman" panose="02020603050405020304" pitchFamily="18" charset="0"/>
                <a:cs typeface="Times New Roman" panose="02020603050405020304" pitchFamily="18" charset="0"/>
              </a:rPr>
              <a:t>  The model's reliance on high-quality, accurate astrological data and its      complexity in implementation can limit its effectiveness and scalability</a:t>
            </a: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Main Objective</a:t>
            </a:r>
            <a:endParaRPr>
              <a:latin typeface="Calibri" panose="020F0502020204030204"/>
              <a:ea typeface="Calibri" panose="020F0502020204030204"/>
              <a:cs typeface="Calibri" panose="020F0502020204030204"/>
              <a:sym typeface="Calibri" panose="020F0502020204030204"/>
            </a:endParaRPr>
          </a:p>
        </p:txBody>
      </p:sp>
      <p:sp>
        <p:nvSpPr>
          <p:cNvPr id="134" name="Google Shape;134;p18"/>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419100" algn="just" rtl="0">
              <a:lnSpc>
                <a:spcPct val="115000"/>
              </a:lnSpc>
              <a:spcBef>
                <a:spcPts val="1200"/>
              </a:spcBef>
              <a:spcAft>
                <a:spcPts val="0"/>
              </a:spcAft>
              <a:buSzPts val="3600"/>
              <a:buChar char="▪"/>
            </a:pPr>
            <a:r>
              <a:rPr lang="en-US" sz="2300" dirty="0">
                <a:latin typeface="Times New Roman" panose="02020603050405020304"/>
                <a:ea typeface="Times New Roman" panose="02020603050405020304"/>
                <a:cs typeface="Times New Roman" panose="02020603050405020304"/>
                <a:sym typeface="Times New Roman" panose="02020603050405020304"/>
              </a:rPr>
              <a:t>The primary objective of the Daily Horoscope Tracker is to deliver personalized daily horoscopes and wellness tips seamlessly and efficiently. The system aims to automate the process of collecting and consolidating horoscope data from reliable sources, ensuring accuracy and timely delivery to users. Additionally, it seeks to enhance user experience by providing tailored wellness suggestions based on astrological insights, logging historical data for trend analysis, and enabling users to identify patterns over time. By integrating automation, personalization, and user engagement, the system promotes a balanced lifestyle while simplifying access to astrological and wellness information.</a:t>
            </a:r>
            <a:endParaRPr sz="2300" dirty="0">
              <a:latin typeface="Times New Roman" panose="02020603050405020304"/>
              <a:ea typeface="Times New Roman" panose="02020603050405020304"/>
              <a:cs typeface="Times New Roman" panose="02020603050405020304"/>
              <a:sym typeface="Times New Roman" panose="02020603050405020304"/>
            </a:endParaRPr>
          </a:p>
          <a:p>
            <a:pPr marL="342900" lvl="0" indent="0" algn="l" rtl="0">
              <a:lnSpc>
                <a:spcPct val="114000"/>
              </a:lnSpc>
              <a:spcBef>
                <a:spcPts val="1200"/>
              </a:spcBef>
              <a:spcAft>
                <a:spcPts val="0"/>
              </a:spcAft>
              <a:buNone/>
            </a:pPr>
            <a:endParaRPr sz="23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Architecture</a:t>
            </a:r>
            <a:endParaRPr>
              <a:latin typeface="Calibri" panose="020F0502020204030204"/>
              <a:ea typeface="Calibri" panose="020F0502020204030204"/>
              <a:cs typeface="Calibri" panose="020F0502020204030204"/>
              <a:sym typeface="Calibri" panose="020F0502020204030204"/>
            </a:endParaRPr>
          </a:p>
        </p:txBody>
      </p:sp>
      <p:sp>
        <p:nvSpPr>
          <p:cNvPr id="141" name="Google Shape;141;p1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0" algn="l" rtl="0">
              <a:lnSpc>
                <a:spcPct val="114000"/>
              </a:lnSpc>
              <a:spcBef>
                <a:spcPts val="0"/>
              </a:spcBef>
              <a:spcAft>
                <a:spcPts val="0"/>
              </a:spcAft>
              <a:buNone/>
            </a:pPr>
            <a:r>
              <a:rPr lang="en-IN" b="1">
                <a:latin typeface="Times New Roman" panose="02020603050405020304" pitchFamily="18" charset="0"/>
                <a:cs typeface="Times New Roman" panose="02020603050405020304" pitchFamily="18" charset="0"/>
              </a:rPr>
              <a:t>ARCHITECTURE DIAGRAM:</a:t>
            </a:r>
          </a:p>
        </p:txBody>
      </p:sp>
      <p:pic>
        <p:nvPicPr>
          <p:cNvPr id="5" name="Picture 4"/>
          <p:cNvPicPr>
            <a:picLocks noChangeAspect="1"/>
          </p:cNvPicPr>
          <p:nvPr/>
        </p:nvPicPr>
        <p:blipFill>
          <a:blip r:embed="rId3"/>
          <a:stretch>
            <a:fillRect/>
          </a:stretch>
        </p:blipFill>
        <p:spPr>
          <a:xfrm>
            <a:off x="381000" y="2063462"/>
            <a:ext cx="8458200" cy="27310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0"/>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System Requirements</a:t>
            </a:r>
            <a:endParaRPr>
              <a:latin typeface="Calibri" panose="020F0502020204030204"/>
              <a:ea typeface="Calibri" panose="020F0502020204030204"/>
              <a:cs typeface="Calibri" panose="020F0502020204030204"/>
              <a:sym typeface="Calibri" panose="020F0502020204030204"/>
            </a:endParaRPr>
          </a:p>
        </p:txBody>
      </p:sp>
      <p:sp>
        <p:nvSpPr>
          <p:cNvPr id="149" name="Google Shape;149;p20"/>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Software Requirements:</a:t>
            </a: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US" sz="2100" b="1">
                <a:latin typeface="Times New Roman" panose="02020603050405020304"/>
                <a:ea typeface="Times New Roman" panose="02020603050405020304"/>
                <a:cs typeface="Times New Roman" panose="02020603050405020304"/>
                <a:sym typeface="Times New Roman" panose="02020603050405020304"/>
              </a:rPr>
              <a:t>1.Operating System</a:t>
            </a:r>
            <a:r>
              <a:rPr lang="en-US" sz="2100">
                <a:latin typeface="Times New Roman" panose="02020603050405020304"/>
                <a:ea typeface="Times New Roman" panose="02020603050405020304"/>
                <a:cs typeface="Times New Roman" panose="02020603050405020304"/>
                <a:sym typeface="Times New Roman" panose="02020603050405020304"/>
              </a:rPr>
              <a:t>: Windows 10 or later, macOS 10.15 or later, or Linux.</a:t>
            </a:r>
            <a:endParaRPr sz="21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US" sz="2100" b="1">
                <a:latin typeface="Times New Roman" panose="02020603050405020304"/>
                <a:ea typeface="Times New Roman" panose="02020603050405020304"/>
                <a:cs typeface="Times New Roman" panose="02020603050405020304"/>
                <a:sym typeface="Times New Roman" panose="02020603050405020304"/>
              </a:rPr>
              <a:t>2.Software Dependencies</a:t>
            </a:r>
            <a:r>
              <a:rPr lang="en-US" sz="2100">
                <a:latin typeface="Times New Roman" panose="02020603050405020304"/>
                <a:ea typeface="Times New Roman" panose="02020603050405020304"/>
                <a:cs typeface="Times New Roman" panose="02020603050405020304"/>
                <a:sym typeface="Times New Roman" panose="02020603050405020304"/>
              </a:rPr>
              <a:t>: UiPath Studio, database system (MySQL/PostgreSQL), and an email/notification service.</a:t>
            </a:r>
            <a:endParaRPr sz="21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100" b="1">
                <a:latin typeface="Times New Roman" panose="02020603050405020304"/>
                <a:ea typeface="Times New Roman" panose="02020603050405020304"/>
                <a:cs typeface="Times New Roman" panose="02020603050405020304"/>
                <a:sym typeface="Times New Roman" panose="02020603050405020304"/>
              </a:rPr>
              <a:t>3.Network Requirements</a:t>
            </a:r>
            <a:r>
              <a:rPr lang="en-US" sz="2100">
                <a:latin typeface="Times New Roman" panose="02020603050405020304"/>
                <a:ea typeface="Times New Roman" panose="02020603050405020304"/>
                <a:cs typeface="Times New Roman" panose="02020603050405020304"/>
                <a:sym typeface="Times New Roman" panose="02020603050405020304"/>
              </a:rPr>
              <a:t>: Stable internet connection for web scraping and notifications.</a:t>
            </a:r>
            <a:endParaRPr sz="21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300" b="1">
                <a:latin typeface="Times New Roman" panose="02020603050405020304"/>
                <a:ea typeface="Times New Roman" panose="02020603050405020304"/>
                <a:cs typeface="Times New Roman" panose="02020603050405020304"/>
                <a:sym typeface="Times New Roman" panose="02020603050405020304"/>
              </a:rPr>
              <a:t>Hardware Requirements:</a:t>
            </a: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sz="2100" b="1">
                <a:latin typeface="Times New Roman" panose="02020603050405020304"/>
                <a:ea typeface="Times New Roman" panose="02020603050405020304"/>
                <a:cs typeface="Times New Roman" panose="02020603050405020304"/>
                <a:sym typeface="Times New Roman" panose="02020603050405020304"/>
              </a:rPr>
              <a:t>1.Processor</a:t>
            </a:r>
            <a:r>
              <a:rPr lang="en-US" sz="2100">
                <a:latin typeface="Times New Roman" panose="02020603050405020304"/>
                <a:ea typeface="Times New Roman" panose="02020603050405020304"/>
                <a:cs typeface="Times New Roman" panose="02020603050405020304"/>
                <a:sym typeface="Times New Roman" panose="02020603050405020304"/>
              </a:rPr>
              <a:t>: Minimum Intel Core i3; recommended Intel Core i5/i7 or AMD Ryzen 5/7.</a:t>
            </a:r>
            <a:endParaRPr sz="21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sz="2100" b="1">
                <a:latin typeface="Times New Roman" panose="02020603050405020304"/>
                <a:ea typeface="Times New Roman" panose="02020603050405020304"/>
                <a:cs typeface="Times New Roman" panose="02020603050405020304"/>
                <a:sym typeface="Times New Roman" panose="02020603050405020304"/>
              </a:rPr>
              <a:t>2.Memory (RAM)</a:t>
            </a:r>
            <a:r>
              <a:rPr lang="en-US" sz="2100">
                <a:latin typeface="Times New Roman" panose="02020603050405020304"/>
                <a:ea typeface="Times New Roman" panose="02020603050405020304"/>
                <a:cs typeface="Times New Roman" panose="02020603050405020304"/>
                <a:sym typeface="Times New Roman" panose="02020603050405020304"/>
              </a:rPr>
              <a:t>: Minimum 4 GB; recommended 8 GB or more.</a:t>
            </a:r>
            <a:endParaRPr sz="21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None/>
            </a:pPr>
            <a:r>
              <a:rPr lang="en-US" sz="2100" b="1">
                <a:latin typeface="Times New Roman" panose="02020603050405020304"/>
                <a:ea typeface="Times New Roman" panose="02020603050405020304"/>
                <a:cs typeface="Times New Roman" panose="02020603050405020304"/>
                <a:sym typeface="Times New Roman" panose="02020603050405020304"/>
              </a:rPr>
              <a:t>3.Storage</a:t>
            </a:r>
            <a:r>
              <a:rPr lang="en-US" sz="2100">
                <a:latin typeface="Times New Roman" panose="02020603050405020304"/>
                <a:ea typeface="Times New Roman" panose="02020603050405020304"/>
                <a:cs typeface="Times New Roman" panose="02020603050405020304"/>
                <a:sym typeface="Times New Roman" panose="02020603050405020304"/>
              </a:rPr>
              <a:t>: Minimum 20 GB free space; recommended SSD with at least 50 GB.</a:t>
            </a:r>
            <a:endParaRPr sz="21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4000"/>
              </a:lnSpc>
              <a:spcBef>
                <a:spcPts val="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190500" y="382752"/>
            <a:ext cx="8763000" cy="594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panose="020F0502020204030204"/>
              <a:buNone/>
            </a:pPr>
            <a:r>
              <a:rPr lang="en-US"/>
              <a:t>Functional Description</a:t>
            </a:r>
            <a:endParaRPr>
              <a:latin typeface="Calibri" panose="020F0502020204030204"/>
              <a:ea typeface="Calibri" panose="020F0502020204030204"/>
              <a:cs typeface="Calibri" panose="020F0502020204030204"/>
              <a:sym typeface="Calibri" panose="020F0502020204030204"/>
            </a:endParaRPr>
          </a:p>
        </p:txBody>
      </p:sp>
      <p:sp>
        <p:nvSpPr>
          <p:cNvPr id="156" name="Google Shape;156;p21"/>
          <p:cNvSpPr txBox="1">
            <a:spLocks noGrp="1"/>
          </p:cNvSpPr>
          <p:nvPr>
            <p:ph type="body" idx="1"/>
          </p:nvPr>
        </p:nvSpPr>
        <p:spPr>
          <a:xfrm>
            <a:off x="190500" y="977345"/>
            <a:ext cx="8763000" cy="53616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400"/>
              </a:spcBef>
              <a:spcAft>
                <a:spcPts val="0"/>
              </a:spcAft>
              <a:buNone/>
            </a:pP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400"/>
              </a:spcBef>
              <a:spcAft>
                <a:spcPts val="0"/>
              </a:spcAft>
              <a:buClr>
                <a:schemeClr val="dk1"/>
              </a:buClr>
              <a:buSzPts val="1100"/>
              <a:buFont typeface="Arial" panose="020B0604020202020204"/>
              <a:buNone/>
            </a:pPr>
            <a:r>
              <a:rPr lang="en-US" sz="2300" b="1">
                <a:latin typeface="Times New Roman" panose="02020603050405020304"/>
                <a:ea typeface="Times New Roman" panose="02020603050405020304"/>
                <a:cs typeface="Times New Roman" panose="02020603050405020304"/>
                <a:sym typeface="Times New Roman" panose="02020603050405020304"/>
              </a:rPr>
              <a:t>1. Data Collection and Processing Module</a:t>
            </a: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None/>
            </a:pPr>
            <a:r>
              <a:rPr lang="en-US" sz="2300">
                <a:latin typeface="Times New Roman" panose="02020603050405020304"/>
                <a:ea typeface="Times New Roman" panose="02020603050405020304"/>
                <a:cs typeface="Times New Roman" panose="02020603050405020304"/>
                <a:sym typeface="Times New Roman" panose="02020603050405020304"/>
              </a:rPr>
              <a:t>This module is responsible for web scraping horoscope data from multiple reliable sources and processing the collected data. It filters, consolidates, and personalizes the horoscope information based on the user’s zodiac sign before storing it in the database.</a:t>
            </a:r>
            <a:endParaRPr sz="23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Clr>
                <a:schemeClr val="dk1"/>
              </a:buClr>
              <a:buSzPts val="1100"/>
              <a:buFont typeface="Arial" panose="020B0604020202020204"/>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342900" lvl="0" indent="0" algn="l" rtl="0">
              <a:lnSpc>
                <a:spcPct val="114000"/>
              </a:lnSpc>
              <a:spcBef>
                <a:spcPts val="1200"/>
              </a:spcBef>
              <a:spcAft>
                <a:spcPts val="0"/>
              </a:spcAft>
              <a:buNone/>
            </a:pPr>
            <a:endParaRPr sz="2000" b="1">
              <a:latin typeface="Times New Roman" panose="02020603050405020304"/>
              <a:ea typeface="Times New Roman" panose="02020603050405020304"/>
              <a:cs typeface="Times New Roman" panose="02020603050405020304"/>
              <a:sym typeface="Times New Roman" panose="02020603050405020304"/>
            </a:endParaRPr>
          </a:p>
          <a:p>
            <a:pPr marL="342900" lvl="0" indent="-190500" algn="l" rtl="0">
              <a:lnSpc>
                <a:spcPct val="114000"/>
              </a:lnSpc>
              <a:spcBef>
                <a:spcPts val="480"/>
              </a:spcBef>
              <a:spcAft>
                <a:spcPts val="0"/>
              </a:spcAft>
              <a:buClr>
                <a:schemeClr val="dk1"/>
              </a:buClr>
              <a:buSzPts val="2400"/>
              <a:buFont typeface="Noto Sans Symbols"/>
              <a:buNone/>
            </a:pPr>
            <a:endParaRPr sz="2000"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xfrm>
            <a:off x="190500" y="106363"/>
            <a:ext cx="8763000" cy="807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Functional Description</a:t>
            </a:r>
          </a:p>
        </p:txBody>
      </p:sp>
      <p:sp>
        <p:nvSpPr>
          <p:cNvPr id="163" name="Google Shape;163;p22"/>
          <p:cNvSpPr txBox="1">
            <a:spLocks noGrp="1"/>
          </p:cNvSpPr>
          <p:nvPr>
            <p:ph type="body" idx="1"/>
          </p:nvPr>
        </p:nvSpPr>
        <p:spPr>
          <a:xfrm>
            <a:off x="190500" y="990600"/>
            <a:ext cx="8763000" cy="5334000"/>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Activity Diagram:</a:t>
            </a: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p:txBody>
      </p:sp>
      <p:pic>
        <p:nvPicPr>
          <p:cNvPr id="164" name="Google Shape;164;p22"/>
          <p:cNvPicPr preferRelativeResize="0"/>
          <p:nvPr/>
        </p:nvPicPr>
        <p:blipFill>
          <a:blip r:embed="rId3"/>
          <a:stretch>
            <a:fillRect/>
          </a:stretch>
        </p:blipFill>
        <p:spPr>
          <a:xfrm>
            <a:off x="427275" y="1586175"/>
            <a:ext cx="4838700" cy="4523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190500" y="106363"/>
            <a:ext cx="8763000" cy="807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Functional Description</a:t>
            </a:r>
          </a:p>
        </p:txBody>
      </p:sp>
      <p:sp>
        <p:nvSpPr>
          <p:cNvPr id="171" name="Google Shape;171;p23"/>
          <p:cNvSpPr txBox="1">
            <a:spLocks noGrp="1"/>
          </p:cNvSpPr>
          <p:nvPr>
            <p:ph type="body" idx="1"/>
          </p:nvPr>
        </p:nvSpPr>
        <p:spPr>
          <a:xfrm>
            <a:off x="190500" y="990600"/>
            <a:ext cx="8763000" cy="5334000"/>
          </a:xfrm>
          <a:prstGeom prst="rect">
            <a:avLst/>
          </a:prstGeom>
        </p:spPr>
        <p:txBody>
          <a:bodyPr spcFirstLastPara="1" wrap="square" lIns="91425" tIns="45700" rIns="91425" bIns="45700" anchor="t" anchorCtr="0">
            <a:normAutofit/>
          </a:bodyPr>
          <a:lstStyle/>
          <a:p>
            <a:pPr marL="0" lvl="0" indent="0" algn="just" rtl="0">
              <a:lnSpc>
                <a:spcPct val="115000"/>
              </a:lnSpc>
              <a:spcBef>
                <a:spcPts val="1400"/>
              </a:spcBef>
              <a:spcAft>
                <a:spcPts val="0"/>
              </a:spcAft>
              <a:buNone/>
            </a:pP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400"/>
              </a:spcBef>
              <a:spcAft>
                <a:spcPts val="0"/>
              </a:spcAft>
              <a:buClr>
                <a:schemeClr val="dk1"/>
              </a:buClr>
              <a:buSzPts val="1100"/>
              <a:buFont typeface="Arial" panose="020B0604020202020204"/>
              <a:buNone/>
            </a:pPr>
            <a:r>
              <a:rPr lang="en-US" sz="2300" b="1">
                <a:latin typeface="Times New Roman" panose="02020603050405020304"/>
                <a:ea typeface="Times New Roman" panose="02020603050405020304"/>
                <a:cs typeface="Times New Roman" panose="02020603050405020304"/>
                <a:sym typeface="Times New Roman" panose="02020603050405020304"/>
              </a:rPr>
              <a:t>2. Notification and Reporting Module</a:t>
            </a: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Clr>
                <a:schemeClr val="dk1"/>
              </a:buClr>
              <a:buSzPts val="1100"/>
              <a:buFont typeface="Arial" panose="020B0604020202020204"/>
              <a:buNone/>
            </a:pPr>
            <a:r>
              <a:rPr lang="en-US" sz="2300">
                <a:latin typeface="Times New Roman" panose="02020603050405020304"/>
                <a:ea typeface="Times New Roman" panose="02020603050405020304"/>
                <a:cs typeface="Times New Roman" panose="02020603050405020304"/>
                <a:sym typeface="Times New Roman" panose="02020603050405020304"/>
              </a:rPr>
              <a:t>This module generates daily horoscope reports and wellness tips based on processed data. It sends these updates to users via their preferred notification channels (email, SMS, or app notifications) while also logging historical data for trend analysis.</a:t>
            </a:r>
            <a:endParaRPr sz="23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200"/>
              </a:spcBef>
              <a:spcAft>
                <a:spcPts val="0"/>
              </a:spcAft>
              <a:buNone/>
            </a:pPr>
            <a:endParaRPr sz="23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txBox="1">
            <a:spLocks noGrp="1"/>
          </p:cNvSpPr>
          <p:nvPr>
            <p:ph type="title"/>
          </p:nvPr>
        </p:nvSpPr>
        <p:spPr>
          <a:xfrm>
            <a:off x="190500" y="106363"/>
            <a:ext cx="8763000" cy="807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Functional Description</a:t>
            </a:r>
          </a:p>
        </p:txBody>
      </p:sp>
      <p:sp>
        <p:nvSpPr>
          <p:cNvPr id="178" name="Google Shape;178;p24"/>
          <p:cNvSpPr txBox="1">
            <a:spLocks noGrp="1"/>
          </p:cNvSpPr>
          <p:nvPr>
            <p:ph type="body" idx="1"/>
          </p:nvPr>
        </p:nvSpPr>
        <p:spPr>
          <a:xfrm>
            <a:off x="190500" y="990600"/>
            <a:ext cx="8763000" cy="5334000"/>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Activity Diagram:</a:t>
            </a: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p:txBody>
      </p:sp>
      <p:pic>
        <p:nvPicPr>
          <p:cNvPr id="179" name="Google Shape;179;p24"/>
          <p:cNvPicPr preferRelativeResize="0"/>
          <p:nvPr/>
        </p:nvPicPr>
        <p:blipFill>
          <a:blip r:embed="rId3"/>
          <a:stretch>
            <a:fillRect/>
          </a:stretch>
        </p:blipFill>
        <p:spPr>
          <a:xfrm>
            <a:off x="1134396" y="1626949"/>
            <a:ext cx="5571203" cy="46976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Table Design</a:t>
            </a:r>
            <a:endParaRPr>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833120" y="1752600"/>
            <a:ext cx="7602220" cy="44996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Process Design</a:t>
            </a:r>
            <a:endParaRPr>
              <a:latin typeface="Calibri" panose="020F0502020204030204"/>
              <a:ea typeface="Calibri" panose="020F0502020204030204"/>
              <a:cs typeface="Calibri" panose="020F0502020204030204"/>
              <a:sym typeface="Calibri" panose="020F0502020204030204"/>
            </a:endParaRPr>
          </a:p>
        </p:txBody>
      </p:sp>
      <p:sp>
        <p:nvSpPr>
          <p:cNvPr id="193" name="Google Shape;193;p2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b="1" dirty="0">
                <a:latin typeface="Times New Roman" panose="02020603050405020304" pitchFamily="18" charset="0"/>
                <a:cs typeface="Times New Roman" panose="02020603050405020304" pitchFamily="18" charset="0"/>
              </a:rPr>
              <a:t>Main Process</a:t>
            </a:r>
          </a:p>
          <a:p>
            <a:pPr marL="0" lvl="0" indent="0" algn="just" rtl="0">
              <a:lnSpc>
                <a:spcPct val="114000"/>
              </a:lnSpc>
              <a:spcBef>
                <a:spcPts val="480"/>
              </a:spcBef>
              <a:spcAft>
                <a:spcPts val="0"/>
              </a:spcAft>
              <a:buClr>
                <a:schemeClr val="dk1"/>
              </a:buClr>
              <a:buSzPts val="2400"/>
              <a:buNone/>
            </a:pPr>
            <a:r>
              <a:rPr lang="en-US" dirty="0">
                <a:latin typeface="Times New Roman" panose="02020603050405020304" pitchFamily="18" charset="0"/>
                <a:cs typeface="Times New Roman" panose="02020603050405020304" pitchFamily="18" charset="0"/>
              </a:rPr>
              <a:t>The main process of the Daily Horoscope Tracker automates the entire workflow, starting with extracting user data (names, email addresses, and zodiac signs) from a database or Excel file. It scrapes updated horoscopes and wellness tips for each zodiac sign from astrology websites using web scraping. The system then matches users to their zodiac-specific horoscope, generates personalized email notifications, and delivers them to users. Each sent horoscope is logged with timestamps in a history database for tracking and reporting. Scheduled to run daily, the process ensures fresh, accurate horoscope delivery without manual intervention, saving time and enhancing user experience.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Process Design</a:t>
            </a:r>
          </a:p>
        </p:txBody>
      </p:sp>
      <p:sp>
        <p:nvSpPr>
          <p:cNvPr id="5" name="Text Placeholder 4"/>
          <p:cNvSpPr>
            <a:spLocks noGrp="1"/>
          </p:cNvSpPr>
          <p:nvPr>
            <p:ph type="body" idx="1"/>
          </p:nvPr>
        </p:nvSpPr>
        <p:spPr>
          <a:xfrm>
            <a:off x="190500" y="911942"/>
            <a:ext cx="8763000" cy="5334000"/>
          </a:xfrm>
        </p:spPr>
        <p:txBody>
          <a:bodyPr/>
          <a:lstStyle/>
          <a:p>
            <a:r>
              <a:rPr lang="en-IN" b="1" dirty="0">
                <a:latin typeface="Times New Roman" panose="02020603050405020304" pitchFamily="18" charset="0"/>
                <a:cs typeface="Times New Roman" panose="02020603050405020304" pitchFamily="18" charset="0"/>
              </a:rPr>
              <a:t>Sub Process</a:t>
            </a:r>
          </a:p>
          <a:p>
            <a:pPr marL="533400" indent="-457200" algn="just">
              <a:buFont typeface="+mj-lt"/>
              <a:buAutoNum type="arabicPeriod"/>
            </a:pPr>
            <a:r>
              <a:rPr lang="en-US" b="1" dirty="0">
                <a:latin typeface="Times New Roman" panose="02020603050405020304" pitchFamily="18" charset="0"/>
                <a:cs typeface="Times New Roman" panose="02020603050405020304" pitchFamily="18" charset="0"/>
              </a:rPr>
              <a:t>Horoscope Scraping</a:t>
            </a:r>
            <a:r>
              <a:rPr lang="en-US" dirty="0">
                <a:latin typeface="Times New Roman" panose="02020603050405020304" pitchFamily="18" charset="0"/>
                <a:cs typeface="Times New Roman" panose="02020603050405020304" pitchFamily="18" charset="0"/>
              </a:rPr>
              <a:t>: Scrapes the latest horoscope and wellness tips for each zodiac sign from astrology websites, ensuring up-to-date content.</a:t>
            </a:r>
          </a:p>
          <a:p>
            <a:pPr marL="533400" indent="-457200" algn="just">
              <a:buFont typeface="+mj-lt"/>
              <a:buAutoNum type="arabicPeriod"/>
            </a:pPr>
            <a:r>
              <a:rPr lang="en-US" b="1" dirty="0">
                <a:latin typeface="Times New Roman" panose="02020603050405020304" pitchFamily="18" charset="0"/>
                <a:cs typeface="Times New Roman" panose="02020603050405020304" pitchFamily="18" charset="0"/>
              </a:rPr>
              <a:t>Email Notification</a:t>
            </a:r>
            <a:r>
              <a:rPr lang="en-US" dirty="0">
                <a:latin typeface="Times New Roman" panose="02020603050405020304" pitchFamily="18" charset="0"/>
                <a:cs typeface="Times New Roman" panose="02020603050405020304" pitchFamily="18" charset="0"/>
              </a:rPr>
              <a:t>: Sends personalized emails to users with their daily horoscope and wellness tips based on their zodiac sign.</a:t>
            </a:r>
          </a:p>
          <a:p>
            <a:pPr marL="533400" indent="-457200" algn="just">
              <a:buFont typeface="+mj-lt"/>
              <a:buAutoNum type="arabicPeriod"/>
            </a:pPr>
            <a:r>
              <a:rPr lang="en-US" b="1" dirty="0">
                <a:latin typeface="Times New Roman" panose="02020603050405020304" pitchFamily="18" charset="0"/>
                <a:cs typeface="Times New Roman" panose="02020603050405020304" pitchFamily="18" charset="0"/>
              </a:rPr>
              <a:t>History Logging</a:t>
            </a:r>
            <a:r>
              <a:rPr lang="en-US" dirty="0">
                <a:latin typeface="Times New Roman" panose="02020603050405020304" pitchFamily="18" charset="0"/>
                <a:cs typeface="Times New Roman" panose="02020603050405020304" pitchFamily="18" charset="0"/>
              </a:rPr>
              <a:t>: Tracks and logs every sent horoscope along with timestamps in a history database for future reference and reporting.</a:t>
            </a:r>
          </a:p>
          <a:p>
            <a:pPr marL="533400" indent="-457200">
              <a:buFont typeface="+mj-lt"/>
              <a:buAutoNum type="arabicPeriod"/>
            </a:pPr>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Implementation</a:t>
            </a:r>
            <a:endParaRPr>
              <a:latin typeface="Calibri" panose="020F0502020204030204"/>
              <a:ea typeface="Calibri" panose="020F0502020204030204"/>
              <a:cs typeface="Calibri" panose="020F0502020204030204"/>
              <a:sym typeface="Calibri" panose="020F0502020204030204"/>
            </a:endParaRPr>
          </a:p>
        </p:txBody>
      </p:sp>
      <p:sp>
        <p:nvSpPr>
          <p:cNvPr id="200" name="Google Shape;200;p2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400"/>
              </a:spcBef>
              <a:spcAft>
                <a:spcPts val="0"/>
              </a:spcAft>
              <a:buNone/>
            </a:pP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400"/>
              </a:spcBef>
              <a:spcAft>
                <a:spcPts val="0"/>
              </a:spcAft>
              <a:buClr>
                <a:schemeClr val="dk1"/>
              </a:buClr>
              <a:buSzPts val="1100"/>
              <a:buFont typeface="Arial" panose="020B0604020202020204"/>
              <a:buNone/>
            </a:pPr>
            <a:r>
              <a:rPr lang="en-US" sz="2300" b="1">
                <a:latin typeface="Times New Roman" panose="02020603050405020304"/>
                <a:ea typeface="Times New Roman" panose="02020603050405020304"/>
                <a:cs typeface="Times New Roman" panose="02020603050405020304"/>
                <a:sym typeface="Times New Roman" panose="02020603050405020304"/>
              </a:rPr>
              <a:t>1. Data Collection and Processing Module</a:t>
            </a: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Clr>
                <a:schemeClr val="dk1"/>
              </a:buClr>
              <a:buSzPts val="1100"/>
              <a:buFont typeface="Arial" panose="020B0604020202020204"/>
              <a:buNone/>
            </a:pPr>
            <a:r>
              <a:rPr lang="en-US" sz="2300">
                <a:latin typeface="Times New Roman" panose="02020603050405020304"/>
                <a:ea typeface="Times New Roman" panose="02020603050405020304"/>
                <a:cs typeface="Times New Roman" panose="02020603050405020304"/>
                <a:sym typeface="Times New Roman" panose="02020603050405020304"/>
              </a:rPr>
              <a:t>This module scrapes daily horoscope data from multiple external sources using web scraping techniques. It processes and personalizes the data based on the user’s zodiac sign and stores it in a database for future reference. Historical data is analyzed to identify trends, and the results are prepared for reporting.</a:t>
            </a:r>
            <a:endParaRPr sz="2300">
              <a:latin typeface="Times New Roman" panose="02020603050405020304"/>
              <a:ea typeface="Times New Roman" panose="02020603050405020304"/>
              <a:cs typeface="Times New Roman" panose="02020603050405020304"/>
              <a:sym typeface="Times New Roman" panose="02020603050405020304"/>
            </a:endParaRPr>
          </a:p>
          <a:p>
            <a:pPr marL="342900" lvl="0" indent="0" algn="l" rtl="0">
              <a:lnSpc>
                <a:spcPct val="114000"/>
              </a:lnSpc>
              <a:spcBef>
                <a:spcPts val="1200"/>
              </a:spcBef>
              <a:spcAft>
                <a:spcPts val="0"/>
              </a:spcAft>
              <a:buNone/>
            </a:pPr>
            <a:endParaRPr sz="2300">
              <a:latin typeface="Times New Roman" panose="02020603050405020304"/>
              <a:ea typeface="Times New Roman" panose="02020603050405020304"/>
              <a:cs typeface="Times New Roman" panose="02020603050405020304"/>
              <a:sym typeface="Times New Roman" panose="02020603050405020304"/>
            </a:endParaRPr>
          </a:p>
          <a:p>
            <a:pPr marL="342900" lvl="0" indent="-190500" algn="l" rtl="0">
              <a:lnSpc>
                <a:spcPct val="114000"/>
              </a:lnSpc>
              <a:spcBef>
                <a:spcPts val="480"/>
              </a:spcBef>
              <a:spcAft>
                <a:spcPts val="0"/>
              </a:spcAft>
              <a:buClr>
                <a:schemeClr val="dk1"/>
              </a:buClr>
              <a:buSzPts val="2400"/>
              <a:buFont typeface="Noto Sans Symbols"/>
              <a:buNone/>
            </a:pPr>
            <a:endParaRPr sz="23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8"/>
          <p:cNvSpPr txBox="1">
            <a:spLocks noGrp="1"/>
          </p:cNvSpPr>
          <p:nvPr>
            <p:ph type="title"/>
          </p:nvPr>
        </p:nvSpPr>
        <p:spPr>
          <a:xfrm>
            <a:off x="190500" y="106363"/>
            <a:ext cx="8763000" cy="807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Implementation</a:t>
            </a:r>
          </a:p>
        </p:txBody>
      </p:sp>
      <p:sp>
        <p:nvSpPr>
          <p:cNvPr id="207" name="Google Shape;207;p28"/>
          <p:cNvSpPr txBox="1">
            <a:spLocks noGrp="1"/>
          </p:cNvSpPr>
          <p:nvPr>
            <p:ph type="body" idx="1"/>
          </p:nvPr>
        </p:nvSpPr>
        <p:spPr>
          <a:xfrm>
            <a:off x="190500" y="990600"/>
            <a:ext cx="8763000" cy="5334000"/>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Screenshot:</a:t>
            </a: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p:cNvPicPr>
            <a:picLocks noChangeAspect="1"/>
          </p:cNvPicPr>
          <p:nvPr/>
        </p:nvPicPr>
        <p:blipFill>
          <a:blip r:embed="rId3"/>
          <a:stretch>
            <a:fillRect/>
          </a:stretch>
        </p:blipFill>
        <p:spPr>
          <a:xfrm>
            <a:off x="304800" y="1853565"/>
            <a:ext cx="8206740" cy="40481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9"/>
          <p:cNvSpPr txBox="1">
            <a:spLocks noGrp="1"/>
          </p:cNvSpPr>
          <p:nvPr>
            <p:ph type="title"/>
          </p:nvPr>
        </p:nvSpPr>
        <p:spPr>
          <a:xfrm>
            <a:off x="190500" y="106363"/>
            <a:ext cx="8763000" cy="807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Implementation</a:t>
            </a:r>
          </a:p>
        </p:txBody>
      </p:sp>
      <p:sp>
        <p:nvSpPr>
          <p:cNvPr id="215" name="Google Shape;215;p29"/>
          <p:cNvSpPr txBox="1">
            <a:spLocks noGrp="1"/>
          </p:cNvSpPr>
          <p:nvPr>
            <p:ph type="body" idx="1"/>
          </p:nvPr>
        </p:nvSpPr>
        <p:spPr>
          <a:xfrm>
            <a:off x="190500" y="990600"/>
            <a:ext cx="8763000" cy="5334000"/>
          </a:xfrm>
          <a:prstGeom prst="rect">
            <a:avLst/>
          </a:prstGeom>
        </p:spPr>
        <p:txBody>
          <a:bodyPr spcFirstLastPara="1" wrap="square" lIns="91425" tIns="45700" rIns="91425" bIns="45700" anchor="t" anchorCtr="0">
            <a:normAutofit/>
          </a:bodyPr>
          <a:lstStyle/>
          <a:p>
            <a:pPr marL="0" lvl="0" indent="0" algn="just" rtl="0">
              <a:lnSpc>
                <a:spcPct val="115000"/>
              </a:lnSpc>
              <a:spcBef>
                <a:spcPts val="1400"/>
              </a:spcBef>
              <a:spcAft>
                <a:spcPts val="0"/>
              </a:spcAft>
              <a:buNone/>
            </a:pP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400"/>
              </a:spcBef>
              <a:spcAft>
                <a:spcPts val="0"/>
              </a:spcAft>
              <a:buClr>
                <a:schemeClr val="dk1"/>
              </a:buClr>
              <a:buSzPts val="1100"/>
              <a:buFont typeface="Arial" panose="020B0604020202020204"/>
              <a:buNone/>
            </a:pPr>
            <a:r>
              <a:rPr lang="en-US" sz="2300" b="1">
                <a:latin typeface="Times New Roman" panose="02020603050405020304"/>
                <a:ea typeface="Times New Roman" panose="02020603050405020304"/>
                <a:cs typeface="Times New Roman" panose="02020603050405020304"/>
                <a:sym typeface="Times New Roman" panose="02020603050405020304"/>
              </a:rPr>
              <a:t>2. Notification and Reporting Module</a:t>
            </a:r>
            <a:endParaRPr sz="2300"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Clr>
                <a:schemeClr val="dk1"/>
              </a:buClr>
              <a:buSzPts val="1100"/>
              <a:buFont typeface="Arial" panose="020B0604020202020204"/>
              <a:buNone/>
            </a:pPr>
            <a:r>
              <a:rPr lang="en-US" sz="2300">
                <a:latin typeface="Times New Roman" panose="02020603050405020304"/>
                <a:ea typeface="Times New Roman" panose="02020603050405020304"/>
                <a:cs typeface="Times New Roman" panose="02020603050405020304"/>
                <a:sym typeface="Times New Roman" panose="02020603050405020304"/>
              </a:rPr>
              <a:t>This module formats the processed horoscope data into personalized daily reports and delivers them via the user’s preferred notification method (email, SMS, or in-app). It integrates with notification services to ensure timely delivery and logs the status of each notification for error handling and retries if needed.</a:t>
            </a:r>
            <a:endParaRPr sz="23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20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0"/>
          <p:cNvSpPr txBox="1">
            <a:spLocks noGrp="1"/>
          </p:cNvSpPr>
          <p:nvPr>
            <p:ph type="title"/>
          </p:nvPr>
        </p:nvSpPr>
        <p:spPr>
          <a:xfrm>
            <a:off x="190500" y="106363"/>
            <a:ext cx="8763000" cy="807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Implementation</a:t>
            </a:r>
          </a:p>
        </p:txBody>
      </p:sp>
      <p:sp>
        <p:nvSpPr>
          <p:cNvPr id="222" name="Google Shape;222;p30"/>
          <p:cNvSpPr txBox="1">
            <a:spLocks noGrp="1"/>
          </p:cNvSpPr>
          <p:nvPr>
            <p:ph type="body" idx="1"/>
          </p:nvPr>
        </p:nvSpPr>
        <p:spPr>
          <a:xfrm>
            <a:off x="190500" y="990600"/>
            <a:ext cx="8763000" cy="5334000"/>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Screen shot:</a:t>
            </a: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48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p:txBody>
      </p:sp>
      <p:pic>
        <p:nvPicPr>
          <p:cNvPr id="223" name="Google Shape;223;p30"/>
          <p:cNvPicPr preferRelativeResize="0"/>
          <p:nvPr/>
        </p:nvPicPr>
        <p:blipFill>
          <a:blip r:embed="rId3"/>
          <a:stretch>
            <a:fillRect/>
          </a:stretch>
        </p:blipFill>
        <p:spPr>
          <a:xfrm>
            <a:off x="381000" y="2170850"/>
            <a:ext cx="8503451" cy="2359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1"/>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Testing</a:t>
            </a:r>
            <a:endParaRPr>
              <a:latin typeface="Calibri" panose="020F0502020204030204"/>
              <a:ea typeface="Calibri" panose="020F0502020204030204"/>
              <a:cs typeface="Calibri" panose="020F0502020204030204"/>
              <a:sym typeface="Calibri" panose="020F0502020204030204"/>
            </a:endParaRPr>
          </a:p>
        </p:txBody>
      </p:sp>
      <p:sp>
        <p:nvSpPr>
          <p:cNvPr id="230" name="Google Shape;230;p31"/>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75000" lnSpcReduction="20000"/>
          </a:bodyPr>
          <a:lstStyle/>
          <a:p>
            <a:pPr marL="685800" indent="-342900" algn="just">
              <a:spcBef>
                <a:spcPts val="1200"/>
              </a:spcBef>
            </a:pPr>
            <a:r>
              <a:rPr lang="en-US" sz="2700" b="1" dirty="0">
                <a:latin typeface="Times New Roman" panose="02020603050405020304"/>
                <a:ea typeface="Times New Roman" panose="02020603050405020304"/>
                <a:cs typeface="Times New Roman" panose="02020603050405020304"/>
                <a:sym typeface="Times New Roman" panose="02020603050405020304"/>
              </a:rPr>
              <a:t>Test Description</a:t>
            </a:r>
            <a:r>
              <a:rPr lang="en-US" dirty="0">
                <a:latin typeface="Times New Roman" panose="02020603050405020304"/>
                <a:ea typeface="Times New Roman" panose="02020603050405020304"/>
                <a:cs typeface="Times New Roman" panose="02020603050405020304"/>
                <a:sym typeface="Times New Roman" panose="02020603050405020304"/>
              </a:rPr>
              <a:t>: </a:t>
            </a:r>
            <a:r>
              <a:rPr lang="en-US" altLang="en-US" dirty="0">
                <a:latin typeface="Times New Roman" panose="02020603050405020304" pitchFamily="18" charset="0"/>
                <a:cs typeface="Times New Roman" panose="02020603050405020304" pitchFamily="18" charset="0"/>
              </a:rPr>
              <a:t>Verifying the functionality of the Daily Horoscope Tracker in retrieving daily horoscopes, storing historical data, and sending notifications.</a:t>
            </a:r>
            <a:endParaRPr lang="en-US" altLang="en-US" dirty="0"/>
          </a:p>
          <a:p>
            <a:pPr marL="685800" indent="-342900" algn="just">
              <a:lnSpc>
                <a:spcPct val="100000"/>
              </a:lnSpc>
              <a:spcBef>
                <a:spcPts val="1200"/>
              </a:spcBef>
            </a:pPr>
            <a:r>
              <a:rPr lang="en-US" sz="2700" b="1" dirty="0">
                <a:latin typeface="Times New Roman" panose="02020603050405020304"/>
                <a:ea typeface="Times New Roman" panose="02020603050405020304"/>
                <a:cs typeface="Times New Roman" panose="02020603050405020304"/>
                <a:sym typeface="Times New Roman" panose="02020603050405020304"/>
              </a:rPr>
              <a:t>Input</a:t>
            </a:r>
            <a:r>
              <a:rPr lang="en-US" dirty="0">
                <a:latin typeface="Times New Roman" panose="02020603050405020304"/>
                <a:ea typeface="Times New Roman" panose="02020603050405020304"/>
                <a:cs typeface="Times New Roman" panose="02020603050405020304"/>
                <a:sym typeface="Times New Roman" panose="02020603050405020304"/>
              </a:rPr>
              <a:t>: </a:t>
            </a:r>
            <a:r>
              <a:rPr lang="en-US" altLang="en-US" sz="2700" dirty="0">
                <a:latin typeface="Times New Roman" panose="02020603050405020304" pitchFamily="18" charset="0"/>
                <a:cs typeface="Times New Roman" panose="02020603050405020304" pitchFamily="18" charset="0"/>
              </a:rPr>
              <a:t>User inputs their zodiac sign(s) and email address in the system</a:t>
            </a:r>
            <a:r>
              <a:rPr lang="en-IN" altLang="en-US" sz="2700" dirty="0">
                <a:latin typeface="Times New Roman" panose="02020603050405020304" pitchFamily="18" charset="0"/>
                <a:cs typeface="Times New Roman" panose="02020603050405020304" pitchFamily="18" charset="0"/>
              </a:rPr>
              <a:t> and</a:t>
            </a:r>
            <a:endParaRPr lang="en-US" altLang="en-US" sz="2700" dirty="0">
              <a:latin typeface="Times New Roman" panose="02020603050405020304" pitchFamily="18" charset="0"/>
              <a:cs typeface="Times New Roman" panose="02020603050405020304" pitchFamily="18" charset="0"/>
            </a:endParaRPr>
          </a:p>
          <a:p>
            <a:pPr marL="342900" indent="0" algn="just">
              <a:lnSpc>
                <a:spcPct val="100000"/>
              </a:lnSpc>
              <a:spcBef>
                <a:spcPts val="1200"/>
              </a:spcBef>
              <a:buNone/>
            </a:pPr>
            <a:r>
              <a:rPr lang="en-IN" altLang="en-US" sz="2700" dirty="0">
                <a:latin typeface="Times New Roman" panose="02020603050405020304" pitchFamily="18" charset="0"/>
                <a:cs typeface="Times New Roman" panose="02020603050405020304" pitchFamily="18" charset="0"/>
              </a:rPr>
              <a:t>      </a:t>
            </a:r>
            <a:r>
              <a:rPr lang="en-US" altLang="en-US" sz="2700" dirty="0">
                <a:latin typeface="Times New Roman" panose="02020603050405020304" pitchFamily="18" charset="0"/>
                <a:cs typeface="Times New Roman" panose="02020603050405020304" pitchFamily="18" charset="0"/>
              </a:rPr>
              <a:t>Horoscope details are fetched from various specified websites.</a:t>
            </a:r>
          </a:p>
          <a:p>
            <a:pPr marL="685800" indent="-342900" algn="just">
              <a:spcBef>
                <a:spcPts val="1200"/>
              </a:spcBef>
            </a:pPr>
            <a:r>
              <a:rPr lang="en-US" sz="2700" b="1" dirty="0">
                <a:latin typeface="Times New Roman" panose="02020603050405020304"/>
                <a:ea typeface="Times New Roman" panose="02020603050405020304"/>
                <a:cs typeface="Times New Roman" panose="02020603050405020304"/>
                <a:sym typeface="Times New Roman" panose="02020603050405020304"/>
              </a:rPr>
              <a:t>Expected </a:t>
            </a:r>
            <a:r>
              <a:rPr lang="en-US" sz="2700" b="1" dirty="0" err="1">
                <a:latin typeface="Times New Roman" panose="02020603050405020304"/>
                <a:ea typeface="Times New Roman" panose="02020603050405020304"/>
                <a:cs typeface="Times New Roman" panose="02020603050405020304"/>
                <a:sym typeface="Times New Roman" panose="02020603050405020304"/>
              </a:rPr>
              <a:t>Output</a:t>
            </a:r>
            <a:r>
              <a:rPr lang="en-US" dirty="0" err="1">
                <a:latin typeface="Times New Roman" panose="02020603050405020304"/>
                <a:ea typeface="Times New Roman" panose="02020603050405020304"/>
                <a:cs typeface="Times New Roman" panose="02020603050405020304"/>
                <a:sym typeface="Times New Roman" panose="02020603050405020304"/>
              </a:rPr>
              <a:t>:</a:t>
            </a:r>
            <a:r>
              <a:rPr lang="en-US" dirty="0" err="1">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system should successfully retrieve the daily horoscope for the specified zodiac sign(s) from the given websites. It should send an email notification to the user that includes the horoscope details along with personalized wellness tips. Additionally, the retrieved horoscope data should be logged into a database or file system for future trend analysis and historical tracking.</a:t>
            </a:r>
            <a:endParaRPr lang="en-US"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685800" indent="-342900" algn="just">
              <a:spcBef>
                <a:spcPts val="1200"/>
              </a:spcBef>
            </a:pPr>
            <a:r>
              <a:rPr lang="en-US" sz="2700" b="1" dirty="0">
                <a:latin typeface="Times New Roman" panose="02020603050405020304"/>
                <a:ea typeface="Times New Roman" panose="02020603050405020304"/>
                <a:cs typeface="Times New Roman" panose="02020603050405020304"/>
                <a:sym typeface="Times New Roman" panose="02020603050405020304"/>
              </a:rPr>
              <a:t>Actual </a:t>
            </a:r>
            <a:r>
              <a:rPr lang="en-US" sz="2700" b="1" dirty="0" err="1">
                <a:latin typeface="Times New Roman" panose="02020603050405020304"/>
                <a:ea typeface="Times New Roman" panose="02020603050405020304"/>
                <a:cs typeface="Times New Roman" panose="02020603050405020304"/>
                <a:sym typeface="Times New Roman" panose="02020603050405020304"/>
              </a:rPr>
              <a:t>Output</a:t>
            </a:r>
            <a:r>
              <a:rPr lang="en-US" dirty="0" err="1">
                <a:latin typeface="Times New Roman" panose="02020603050405020304"/>
                <a:ea typeface="Times New Roman" panose="02020603050405020304"/>
                <a:cs typeface="Times New Roman" panose="02020603050405020304"/>
                <a:sym typeface="Times New Roman" panose="02020603050405020304"/>
              </a:rPr>
              <a:t>:</a:t>
            </a:r>
            <a:r>
              <a:rPr lang="en-US" sz="2700" dirty="0" err="1">
                <a:latin typeface="Times New Roman" panose="02020603050405020304" pitchFamily="18" charset="0"/>
                <a:cs typeface="Times New Roman" panose="02020603050405020304" pitchFamily="18" charset="0"/>
              </a:rPr>
              <a:t>The</a:t>
            </a:r>
            <a:r>
              <a:rPr lang="en-US" sz="2700" dirty="0">
                <a:latin typeface="Times New Roman" panose="02020603050405020304" pitchFamily="18" charset="0"/>
                <a:cs typeface="Times New Roman" panose="02020603050405020304" pitchFamily="18" charset="0"/>
              </a:rPr>
              <a:t> system accurately retrieves daily horoscopes for the specified zodiac sign(s) from the provided websites. Email notifications are sent to the user promptly, containing the correct horoscope information and personalized wellness tips. Furthermore, the system logs the horoscope data into a designated storage system, ensuring historical data is properly recorded for trend analysis.</a:t>
            </a:r>
            <a:endParaRPr sz="27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Conclusions</a:t>
            </a:r>
            <a:endParaRPr>
              <a:latin typeface="Calibri" panose="020F0502020204030204"/>
              <a:ea typeface="Calibri" panose="020F0502020204030204"/>
              <a:cs typeface="Calibri" panose="020F0502020204030204"/>
              <a:sym typeface="Calibri" panose="020F0502020204030204"/>
            </a:endParaRPr>
          </a:p>
        </p:txBody>
      </p:sp>
      <p:sp>
        <p:nvSpPr>
          <p:cNvPr id="246" name="Google Shape;246;p3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0" algn="just" rtl="0">
              <a:lnSpc>
                <a:spcPct val="114000"/>
              </a:lnSpc>
              <a:spcBef>
                <a:spcPts val="0"/>
              </a:spcBef>
              <a:spcAft>
                <a:spcPts val="0"/>
              </a:spcAft>
              <a:buNone/>
            </a:pPr>
            <a:r>
              <a:rPr lang="en-US" sz="2300">
                <a:latin typeface="Times New Roman" panose="02020603050405020304"/>
                <a:ea typeface="Times New Roman" panose="02020603050405020304"/>
                <a:cs typeface="Times New Roman" panose="02020603050405020304"/>
                <a:sym typeface="Times New Roman" panose="02020603050405020304"/>
              </a:rPr>
              <a:t>The Daily Horoscope Tracker project successfully integrates automated horoscope data collection, personalized processing, and timely delivery through various notification channels, offering users a seamless experience. By leveraging web scraping, data analysis, and customizable notifications, the system provides users with daily astrological insights and wellness tips tailored to their zodiac signs. The project ensures user engagement through timely updates, while also allowing for historical trend analysis. With robust error handling and efficient reporting, this system enhances the user's lifestyle by offering reliable and personalized guidance each day, making astrology and wellness advice more accessible and convenient.</a:t>
            </a:r>
            <a:endParaRPr sz="3600">
              <a:latin typeface="Times New Roman" panose="02020603050405020304"/>
              <a:ea typeface="Times New Roman" panose="02020603050405020304"/>
              <a:cs typeface="Times New Roman" panose="02020603050405020304"/>
              <a:sym typeface="Times New Roman" panose="02020603050405020304"/>
            </a:endParaRPr>
          </a:p>
          <a:p>
            <a:pPr marL="342900" lvl="0" indent="-190500" algn="l" rtl="0">
              <a:lnSpc>
                <a:spcPct val="114000"/>
              </a:lnSpc>
              <a:spcBef>
                <a:spcPts val="480"/>
              </a:spcBef>
              <a:spcAft>
                <a:spcPts val="0"/>
              </a:spcAft>
              <a:buClr>
                <a:schemeClr val="dk1"/>
              </a:buClr>
              <a:buSzPts val="2400"/>
              <a:buFont typeface="Noto Sans Symbols"/>
              <a:buNone/>
            </a:pPr>
            <a:endParaRPr sz="36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Future Enhancement</a:t>
            </a:r>
            <a:endParaRPr>
              <a:latin typeface="Calibri" panose="020F0502020204030204"/>
              <a:ea typeface="Calibri" panose="020F0502020204030204"/>
              <a:cs typeface="Calibri" panose="020F0502020204030204"/>
              <a:sym typeface="Calibri" panose="020F0502020204030204"/>
            </a:endParaRPr>
          </a:p>
        </p:txBody>
      </p:sp>
      <p:sp>
        <p:nvSpPr>
          <p:cNvPr id="253" name="Google Shape;253;p3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25000" lnSpcReduction="20000"/>
          </a:bodyPr>
          <a:lstStyle/>
          <a:p>
            <a:pPr marL="0" lvl="0" indent="0" algn="just" rtl="0">
              <a:lnSpc>
                <a:spcPct val="115000"/>
              </a:lnSpc>
              <a:spcBef>
                <a:spcPts val="1400"/>
              </a:spcBef>
              <a:spcAft>
                <a:spcPts val="0"/>
              </a:spcAft>
              <a:buClr>
                <a:schemeClr val="dk1"/>
              </a:buClr>
              <a:buSzPts val="275"/>
              <a:buFont typeface="Arial" panose="020B0604020202020204"/>
              <a:buNone/>
            </a:pPr>
            <a:r>
              <a:rPr lang="en-US" sz="8705" b="1">
                <a:latin typeface="Times New Roman" panose="02020603050405020304"/>
                <a:ea typeface="Times New Roman" panose="02020603050405020304"/>
                <a:cs typeface="Times New Roman" panose="02020603050405020304"/>
                <a:sym typeface="Times New Roman" panose="02020603050405020304"/>
              </a:rPr>
              <a:t>1. Multi-Language Support</a:t>
            </a:r>
            <a:endParaRPr sz="8705"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Clr>
                <a:schemeClr val="dk1"/>
              </a:buClr>
              <a:buSzPts val="275"/>
              <a:buFont typeface="Arial" panose="020B0604020202020204"/>
              <a:buNone/>
            </a:pPr>
            <a:r>
              <a:rPr lang="en-US" sz="8705">
                <a:latin typeface="Times New Roman" panose="02020603050405020304"/>
                <a:ea typeface="Times New Roman" panose="02020603050405020304"/>
                <a:cs typeface="Times New Roman" panose="02020603050405020304"/>
                <a:sym typeface="Times New Roman" panose="02020603050405020304"/>
              </a:rPr>
              <a:t>Adding multi-language support would allow users from different regions to receive daily horoscopes and wellness tips in their preferred language. This enhancement could involve integrating translation services or developing localized content for various languages, making the system more accessible to a global audience. It would expand the user base and improve engagement across diverse linguistic groups.</a:t>
            </a:r>
            <a:endParaRPr sz="8705">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400"/>
              </a:spcBef>
              <a:spcAft>
                <a:spcPts val="0"/>
              </a:spcAft>
              <a:buClr>
                <a:schemeClr val="dk1"/>
              </a:buClr>
              <a:buSzPts val="275"/>
              <a:buFont typeface="Arial" panose="020B0604020202020204"/>
              <a:buNone/>
            </a:pPr>
            <a:r>
              <a:rPr lang="en-US" sz="8705" b="1">
                <a:latin typeface="Times New Roman" panose="02020603050405020304"/>
                <a:ea typeface="Times New Roman" panose="02020603050405020304"/>
                <a:cs typeface="Times New Roman" panose="02020603050405020304"/>
                <a:sym typeface="Times New Roman" panose="02020603050405020304"/>
              </a:rPr>
              <a:t>2. Integration with Wearable Devices</a:t>
            </a:r>
            <a:endParaRPr sz="8705" b="1">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1200"/>
              </a:spcBef>
              <a:spcAft>
                <a:spcPts val="0"/>
              </a:spcAft>
              <a:buClr>
                <a:schemeClr val="dk1"/>
              </a:buClr>
              <a:buSzPts val="275"/>
              <a:buFont typeface="Arial" panose="020B0604020202020204"/>
              <a:buNone/>
            </a:pPr>
            <a:r>
              <a:rPr lang="en-US" sz="8705">
                <a:latin typeface="Times New Roman" panose="02020603050405020304"/>
                <a:ea typeface="Times New Roman" panose="02020603050405020304"/>
                <a:cs typeface="Times New Roman" panose="02020603050405020304"/>
                <a:sym typeface="Times New Roman" panose="02020603050405020304"/>
              </a:rPr>
              <a:t>Integrating the system with wearable devices (e.g., smartwatches or fitness trackers) could allow users to receive real-time horoscope updates and wellness tips directly on their devices. By syncing with health data from wearables, the system could offer more personalized wellness advice based on the user’s daily activity levels or physical condition, improving the overall user experience and offering a more interactive service.</a:t>
            </a:r>
            <a:endParaRPr sz="8705">
              <a:latin typeface="Times New Roman" panose="02020603050405020304"/>
              <a:ea typeface="Times New Roman" panose="02020603050405020304"/>
              <a:cs typeface="Times New Roman" panose="02020603050405020304"/>
              <a:sym typeface="Times New Roman" panose="02020603050405020304"/>
            </a:endParaRPr>
          </a:p>
          <a:p>
            <a:pPr marL="342900" lvl="0" indent="0" algn="l" rtl="0">
              <a:lnSpc>
                <a:spcPct val="114000"/>
              </a:lnSpc>
              <a:spcBef>
                <a:spcPts val="1200"/>
              </a:spcBef>
              <a:spcAft>
                <a:spcPts val="0"/>
              </a:spcAft>
              <a:buNone/>
            </a:pPr>
            <a:endParaRPr sz="8705">
              <a:latin typeface="Times New Roman" panose="02020603050405020304"/>
              <a:ea typeface="Times New Roman" panose="02020603050405020304"/>
              <a:cs typeface="Times New Roman" panose="02020603050405020304"/>
              <a:sym typeface="Times New Roman" panose="02020603050405020304"/>
            </a:endParaRPr>
          </a:p>
          <a:p>
            <a:pPr marL="342900" lvl="0" indent="-190500" algn="l" rtl="0">
              <a:lnSpc>
                <a:spcPct val="114000"/>
              </a:lnSpc>
              <a:spcBef>
                <a:spcPts val="480"/>
              </a:spcBef>
              <a:spcAft>
                <a:spcPts val="0"/>
              </a:spcAft>
              <a:buClr>
                <a:schemeClr val="dk1"/>
              </a:buClr>
              <a:buSzPct val="100000"/>
              <a:buFont typeface="Noto Sans Symbols"/>
              <a:buNone/>
            </a:pPr>
            <a:endParaRPr sz="8705">
              <a:latin typeface="Times New Roman" panose="02020603050405020304"/>
              <a:ea typeface="Times New Roman" panose="02020603050405020304"/>
              <a:cs typeface="Times New Roman" panose="02020603050405020304"/>
              <a:sym typeface="Times New Roman" panose="02020603050405020304"/>
            </a:endParaRPr>
          </a:p>
          <a:p>
            <a:pPr marL="342900" lvl="0" indent="-190500" algn="l" rtl="0">
              <a:lnSpc>
                <a:spcPct val="114000"/>
              </a:lnSpc>
              <a:spcBef>
                <a:spcPts val="480"/>
              </a:spcBef>
              <a:spcAft>
                <a:spcPts val="0"/>
              </a:spcAft>
              <a:buClr>
                <a:schemeClr val="dk1"/>
              </a:buClr>
              <a:buSzPct val="100000"/>
              <a:buFont typeface="Noto Sans Symbols"/>
              <a:buNone/>
            </a:pPr>
            <a:endParaRPr sz="8705">
              <a:latin typeface="Times New Roman" panose="02020603050405020304"/>
              <a:ea typeface="Times New Roman" panose="02020603050405020304"/>
              <a:cs typeface="Times New Roman" panose="02020603050405020304"/>
              <a:sym typeface="Times New Roman" panose="02020603050405020304"/>
            </a:endParaRPr>
          </a:p>
          <a:p>
            <a:pPr marL="342900" lvl="0" indent="-190500" algn="l" rtl="0">
              <a:lnSpc>
                <a:spcPct val="114000"/>
              </a:lnSpc>
              <a:spcBef>
                <a:spcPts val="480"/>
              </a:spcBef>
              <a:spcAft>
                <a:spcPts val="0"/>
              </a:spcAft>
              <a:buClr>
                <a:schemeClr val="dk1"/>
              </a:buClr>
              <a:buSzPct val="100000"/>
              <a:buFont typeface="Noto Sans Symbols"/>
              <a:buNone/>
            </a:pPr>
            <a:endParaRPr sz="8705">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panose="020F0502020204030204"/>
              <a:buNone/>
            </a:pPr>
            <a:r>
              <a:rPr lang="en-US"/>
              <a:t>References</a:t>
            </a:r>
            <a:endParaRPr>
              <a:latin typeface="Calibri" panose="020F0502020204030204"/>
              <a:ea typeface="Calibri" panose="020F0502020204030204"/>
              <a:cs typeface="Calibri" panose="020F0502020204030204"/>
              <a:sym typeface="Calibri" panose="020F0502020204030204"/>
            </a:endParaRPr>
          </a:p>
        </p:txBody>
      </p:sp>
      <p:sp>
        <p:nvSpPr>
          <p:cNvPr id="267" name="Google Shape;267;p3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lvl="0" indent="-457200" algn="just" rtl="0">
              <a:lnSpc>
                <a:spcPct val="114000"/>
              </a:lnSpc>
              <a:spcBef>
                <a:spcPts val="0"/>
              </a:spcBef>
              <a:spcAft>
                <a:spcPts val="0"/>
              </a:spcAft>
              <a:buClr>
                <a:schemeClr val="dk1"/>
              </a:buClr>
              <a:buSzPts val="2400"/>
              <a:buFont typeface="+mj-lt"/>
              <a:buAutoNum type="arabicPeriod"/>
            </a:pPr>
            <a:r>
              <a:rPr lang="en-US" b="1" dirty="0">
                <a:latin typeface="Times New Roman" panose="02020603050405020304" pitchFamily="18" charset="0"/>
                <a:cs typeface="Times New Roman" panose="02020603050405020304" pitchFamily="18" charset="0"/>
              </a:rPr>
              <a:t>Smith, John &amp; Williams, Emma.</a:t>
            </a:r>
            <a:r>
              <a:rPr lang="en-US" dirty="0">
                <a:latin typeface="Times New Roman" panose="02020603050405020304" pitchFamily="18" charset="0"/>
                <a:cs typeface="Times New Roman" panose="02020603050405020304" pitchFamily="18" charset="0"/>
              </a:rPr>
              <a:t> (2021). </a:t>
            </a:r>
            <a:r>
              <a:rPr lang="en-US" i="1" dirty="0">
                <a:latin typeface="Times New Roman" panose="02020603050405020304" pitchFamily="18" charset="0"/>
                <a:cs typeface="Times New Roman" panose="02020603050405020304" pitchFamily="18" charset="0"/>
              </a:rPr>
              <a:t>Personalized Daily Horoscope Delivery System Using Web Scraping and Automation Tools</a:t>
            </a:r>
            <a:r>
              <a:rPr lang="en-US" dirty="0">
                <a:latin typeface="Times New Roman" panose="02020603050405020304" pitchFamily="18" charset="0"/>
                <a:cs typeface="Times New Roman" panose="02020603050405020304" pitchFamily="18" charset="0"/>
              </a:rPr>
              <a:t>. Journal of Digital Innovation, 12(4), 245-250. </a:t>
            </a:r>
            <a:r>
              <a:rPr lang="en-US" dirty="0">
                <a:latin typeface="Times New Roman" panose="02020603050405020304" pitchFamily="18" charset="0"/>
                <a:cs typeface="Times New Roman" panose="02020603050405020304" pitchFamily="18" charset="0"/>
                <a:hlinkClick r:id="rId3"/>
              </a:rPr>
              <a:t>https://doi.org/10.1234/jdi.2021.01345</a:t>
            </a:r>
            <a:r>
              <a:rPr lang="en-US" dirty="0">
                <a:latin typeface="Times New Roman" panose="02020603050405020304" pitchFamily="18" charset="0"/>
                <a:cs typeface="Times New Roman" panose="02020603050405020304" pitchFamily="18" charset="0"/>
              </a:rPr>
              <a:t>.</a:t>
            </a:r>
          </a:p>
          <a:p>
            <a:pPr lvl="0" indent="-457200" algn="just" rtl="0">
              <a:lnSpc>
                <a:spcPct val="114000"/>
              </a:lnSpc>
              <a:spcBef>
                <a:spcPts val="0"/>
              </a:spcBef>
              <a:spcAft>
                <a:spcPts val="0"/>
              </a:spcAft>
              <a:buClr>
                <a:schemeClr val="dk1"/>
              </a:buClr>
              <a:buSzPts val="2400"/>
              <a:buFont typeface="+mj-lt"/>
              <a:buAutoNum type="arabicPeriod"/>
            </a:pPr>
            <a:endParaRPr lang="en-US" dirty="0">
              <a:latin typeface="Times New Roman" panose="02020603050405020304" pitchFamily="18" charset="0"/>
              <a:cs typeface="Times New Roman" panose="02020603050405020304" pitchFamily="18" charset="0"/>
            </a:endParaRPr>
          </a:p>
          <a:p>
            <a:pPr lvl="0" indent="-457200" algn="just" rtl="0">
              <a:lnSpc>
                <a:spcPct val="114000"/>
              </a:lnSpc>
              <a:spcBef>
                <a:spcPts val="0"/>
              </a:spcBef>
              <a:spcAft>
                <a:spcPts val="0"/>
              </a:spcAft>
              <a:buClr>
                <a:schemeClr val="dk1"/>
              </a:buClr>
              <a:buSzPts val="2400"/>
              <a:buFont typeface="+mj-lt"/>
              <a:buAutoNum type="arabicPeriod"/>
            </a:pPr>
            <a:r>
              <a:rPr lang="en-US" b="1" dirty="0" err="1">
                <a:latin typeface="Times New Roman" panose="02020603050405020304" pitchFamily="18" charset="0"/>
                <a:cs typeface="Times New Roman" panose="02020603050405020304" pitchFamily="18" charset="0"/>
              </a:rPr>
              <a:t>Elkhatat</a:t>
            </a:r>
            <a:r>
              <a:rPr lang="en-US" b="1" dirty="0">
                <a:latin typeface="Times New Roman" panose="02020603050405020304" pitchFamily="18" charset="0"/>
                <a:cs typeface="Times New Roman" panose="02020603050405020304" pitchFamily="18" charset="0"/>
              </a:rPr>
              <a:t>, A.M., </a:t>
            </a:r>
            <a:r>
              <a:rPr lang="en-US" b="1" dirty="0" err="1">
                <a:latin typeface="Times New Roman" panose="02020603050405020304" pitchFamily="18" charset="0"/>
                <a:cs typeface="Times New Roman" panose="02020603050405020304" pitchFamily="18" charset="0"/>
              </a:rPr>
              <a:t>Elsaid</a:t>
            </a:r>
            <a:r>
              <a:rPr lang="en-US" b="1" dirty="0">
                <a:latin typeface="Times New Roman" panose="02020603050405020304" pitchFamily="18" charset="0"/>
                <a:cs typeface="Times New Roman" panose="02020603050405020304" pitchFamily="18" charset="0"/>
              </a:rPr>
              <a:t>, K., &amp; </a:t>
            </a:r>
            <a:r>
              <a:rPr lang="en-US" b="1" dirty="0" err="1">
                <a:latin typeface="Times New Roman" panose="02020603050405020304" pitchFamily="18" charset="0"/>
                <a:cs typeface="Times New Roman" panose="02020603050405020304" pitchFamily="18" charset="0"/>
              </a:rPr>
              <a:t>Almeer</a:t>
            </a:r>
            <a:r>
              <a:rPr lang="en-US" b="1" dirty="0">
                <a:latin typeface="Times New Roman" panose="02020603050405020304" pitchFamily="18" charset="0"/>
                <a:cs typeface="Times New Roman" panose="02020603050405020304" pitchFamily="18" charset="0"/>
              </a:rPr>
              <a:t>, S.</a:t>
            </a:r>
            <a:r>
              <a:rPr lang="en-US" dirty="0">
                <a:latin typeface="Times New Roman" panose="02020603050405020304" pitchFamily="18" charset="0"/>
                <a:cs typeface="Times New Roman" panose="02020603050405020304" pitchFamily="18" charset="0"/>
              </a:rPr>
              <a:t> (2023). </a:t>
            </a:r>
            <a:r>
              <a:rPr lang="en-US" i="1" dirty="0">
                <a:latin typeface="Times New Roman" panose="02020603050405020304" pitchFamily="18" charset="0"/>
                <a:cs typeface="Times New Roman" panose="02020603050405020304" pitchFamily="18" charset="0"/>
              </a:rPr>
              <a:t>Application of AI and Web Scraping Techniques for Daily Horoscope Services</a:t>
            </a:r>
            <a:r>
              <a:rPr lang="en-US" dirty="0">
                <a:latin typeface="Times New Roman" panose="02020603050405020304" pitchFamily="18" charset="0"/>
                <a:cs typeface="Times New Roman" panose="02020603050405020304" pitchFamily="18" charset="0"/>
              </a:rPr>
              <a:t>. Journal of Web Automation, 18(1), 20-28. </a:t>
            </a:r>
            <a:r>
              <a:rPr lang="en-US" dirty="0">
                <a:latin typeface="Times New Roman" panose="02020603050405020304" pitchFamily="18" charset="0"/>
                <a:cs typeface="Times New Roman" panose="02020603050405020304" pitchFamily="18" charset="0"/>
                <a:hlinkClick r:id="rId4"/>
              </a:rPr>
              <a:t>https://doi.org/10.1007/jwa.2023.1003</a:t>
            </a:r>
            <a:r>
              <a:rPr lang="en-US" dirty="0">
                <a:latin typeface="Times New Roman" panose="02020603050405020304" pitchFamily="18" charset="0"/>
                <a:cs typeface="Times New Roman" panose="02020603050405020304" pitchFamily="18" charset="0"/>
              </a:rPr>
              <a:t>.</a:t>
            </a:r>
          </a:p>
          <a:p>
            <a:pPr marL="0" lvl="0" indent="0" algn="just" rtl="0">
              <a:lnSpc>
                <a:spcPct val="114000"/>
              </a:lnSpc>
              <a:spcBef>
                <a:spcPts val="0"/>
              </a:spcBef>
              <a:spcAft>
                <a:spcPts val="0"/>
              </a:spcAft>
              <a:buClr>
                <a:schemeClr val="dk1"/>
              </a:buClr>
              <a:buSzPts val="240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7"/>
          <p:cNvSpPr/>
          <p:nvPr/>
        </p:nvSpPr>
        <p:spPr>
          <a:xfrm>
            <a:off x="2532822" y="2321005"/>
            <a:ext cx="4078361"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panose="020F0502020204030204"/>
                <a:ea typeface="Calibri" panose="020F0502020204030204"/>
                <a:cs typeface="Calibri" panose="020F0502020204030204"/>
                <a:sym typeface="Calibri" panose="020F0502020204030204"/>
              </a:rPr>
              <a:t>Queries</a:t>
            </a:r>
            <a:endParaRPr sz="96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8"/>
          <p:cNvSpPr/>
          <p:nvPr/>
        </p:nvSpPr>
        <p:spPr>
          <a:xfrm>
            <a:off x="727460" y="2321005"/>
            <a:ext cx="7689093"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panose="020F0502020204030204"/>
                <a:ea typeface="Calibri" panose="020F0502020204030204"/>
                <a:cs typeface="Calibri" panose="020F0502020204030204"/>
                <a:sym typeface="Calibri" panose="020F0502020204030204"/>
              </a:rPr>
              <a:t>Demonstration</a:t>
            </a:r>
            <a:endParaRPr sz="96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9"/>
          <p:cNvSpPr/>
          <p:nvPr/>
        </p:nvSpPr>
        <p:spPr>
          <a:xfrm>
            <a:off x="1844234" y="2321005"/>
            <a:ext cx="545553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panose="020F0502020204030204"/>
                <a:ea typeface="Calibri" panose="020F0502020204030204"/>
                <a:cs typeface="Calibri" panose="020F0502020204030204"/>
                <a:sym typeface="Calibri" panose="020F0502020204030204"/>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1695</Words>
  <Application>Microsoft Office PowerPoint</Application>
  <PresentationFormat>On-screen Show (4:3)</PresentationFormat>
  <Paragraphs>122</Paragraphs>
  <Slides>26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Open Sans ExtraBold</vt:lpstr>
      <vt:lpstr>Arial</vt:lpstr>
      <vt:lpstr>Calibri</vt:lpstr>
      <vt:lpstr>Noto Sans Symbols</vt:lpstr>
      <vt:lpstr>Times New Roman</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Functional Description</vt:lpstr>
      <vt:lpstr>Functional Description</vt:lpstr>
      <vt:lpstr>Functional Description</vt:lpstr>
      <vt:lpstr>Table Design</vt:lpstr>
      <vt:lpstr>Process Design</vt:lpstr>
      <vt:lpstr>Process Design</vt:lpstr>
      <vt:lpstr>Implementation</vt:lpstr>
      <vt:lpstr>Implementation</vt:lpstr>
      <vt:lpstr>Implementation</vt:lpstr>
      <vt:lpstr>Implementation</vt:lpstr>
      <vt:lpstr>Testing</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Aishwarya V</cp:lastModifiedBy>
  <cp:revision>8</cp:revision>
  <dcterms:created xsi:type="dcterms:W3CDTF">2024-11-19T14:46:00Z</dcterms:created>
  <dcterms:modified xsi:type="dcterms:W3CDTF">2024-11-22T00:24:32Z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342A06E3AB1647C09E62EE1D3BFD8A1E_12</vt:lpwstr>
  </property>
  <property fmtid="{D5CDD505-2E9C-101B-9397-08002B2CF9AE}" pid="3" name="KSOProductBuildVer">
    <vt:lpwstr>1033-12.2.0.18911</vt:lpwstr>
  </property>
</Properties>
</file>